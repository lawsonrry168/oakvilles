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07" d="100"/>
          <a:sy n="107" d="100"/>
        </p:scale>
        <p:origin x="702" y="9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6/20/2026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6/20/2026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6/20/2026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6/20/2026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A46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A23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Oval 3"/>
          <p:cNvSpPr/>
          <p:nvPr/>
        </p:nvSpPr>
        <p:spPr>
          <a:xfrm>
            <a:off x="8686800" y="-1371600"/>
            <a:ext cx="4572000" cy="4572000"/>
          </a:xfrm>
          <a:prstGeom prst="ellipse">
            <a:avLst/>
          </a:prstGeom>
          <a:solidFill>
            <a:srgbClr val="3D5A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822960" y="1828800"/>
            <a:ext cx="73152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0">
                <a:solidFill>
                  <a:srgbClr val="AE8A47"/>
                </a:solidFill>
                <a:latin typeface="Microsoft JhengHei"/>
              </a:rPr>
              <a:t>OAKVILLE WELLNESS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2331720"/>
            <a:ext cx="914400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4000" b="1">
                <a:solidFill>
                  <a:srgbClr val="FFFFFF"/>
                </a:solidFill>
                <a:latin typeface="Microsoft JhengHei"/>
              </a:rPr>
              <a:t>頤安本草 · 伍厚臻中醫師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3429000"/>
            <a:ext cx="91440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400" b="0">
                <a:solidFill>
                  <a:srgbClr val="F7F2E7"/>
                </a:solidFill>
                <a:latin typeface="Microsoft JhengHei"/>
              </a:rPr>
              <a:t>官方網站重建方案書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4160520"/>
            <a:ext cx="91440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0">
                <a:solidFill>
                  <a:srgbClr val="E8E0D0"/>
                </a:solidFill>
                <a:latin typeface="Microsoft JhengHei"/>
              </a:rPr>
              <a:t>2026 年 6 月 ｜ oakvilles.com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4754880"/>
            <a:ext cx="91440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0">
                <a:solidFill>
                  <a:srgbClr val="AE8A47"/>
                </a:solidFill>
                <a:latin typeface="Microsoft JhengHei"/>
              </a:rPr>
              <a:t>對標分析 · 舊站診斷 · 新站改善 · 行銷建議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2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A23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73152"/>
            <a:ext cx="12191695" cy="960120"/>
          </a:xfrm>
          <a:prstGeom prst="rect">
            <a:avLst/>
          </a:prstGeom>
          <a:solidFill>
            <a:srgbClr val="2A46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02920" y="201168"/>
            <a:ext cx="10972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1">
                <a:solidFill>
                  <a:srgbClr val="AE8A47"/>
                </a:solidFill>
                <a:latin typeface="Microsoft JhengHei"/>
              </a:rPr>
              <a:t>01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438912"/>
            <a:ext cx="109728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800" b="1">
                <a:solidFill>
                  <a:srgbClr val="FFFFFF"/>
                </a:solidFill>
                <a:latin typeface="Microsoft JhengHei"/>
              </a:rPr>
              <a:t>背景與目的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446520"/>
            <a:ext cx="5486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900" b="0">
                <a:solidFill>
                  <a:srgbClr val="5A5A52"/>
                </a:solidFill>
                <a:latin typeface="Microsoft JhengHei"/>
              </a:rPr>
              <a:t>頤安本草 · 伍厚臻中醫師 ｜ 網站重建方案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01200" y="6446520"/>
            <a:ext cx="21031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20000"/>
              </a:lnSpc>
            </a:pPr>
            <a:r>
              <a:rPr sz="900" b="0">
                <a:solidFill>
                  <a:srgbClr val="5A5A52"/>
                </a:solidFill>
                <a:latin typeface="Microsoft JhengHei"/>
              </a:rPr>
              <a:t>2026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1234440"/>
            <a:ext cx="1115568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0">
                <a:solidFill>
                  <a:srgbClr val="1A1A18"/>
                </a:solidFill>
                <a:latin typeface="Microsoft JhengHei"/>
              </a:rPr>
              <a:t>現行 oakvilles.com 為單頁結構，難以承接「症狀搜尋」及「醫師名字搜尋」兩類主要流量。本方案以養康中醫館（honscmc.com）為行業參考，依「中環高端、一人一方」定位重建可擴展官網。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" y="2286000"/>
            <a:ext cx="2377440" cy="13716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502920" y="2286000"/>
            <a:ext cx="54864" cy="1371600"/>
          </a:xfrm>
          <a:prstGeom prst="rect">
            <a:avLst/>
          </a:prstGeom>
          <a:solidFill>
            <a:srgbClr val="A23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85800" y="2423160"/>
            <a:ext cx="210312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3600" b="1">
                <a:solidFill>
                  <a:srgbClr val="2A463C"/>
                </a:solidFill>
                <a:latin typeface="Microsoft JhengHei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85800" y="3063240"/>
            <a:ext cx="21031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0">
                <a:solidFill>
                  <a:srgbClr val="5A5A52"/>
                </a:solidFill>
                <a:latin typeface="Microsoft JhengHei"/>
              </a:rPr>
              <a:t>舊站有效頁面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063240" y="2286000"/>
            <a:ext cx="2377440" cy="13716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3063240" y="2286000"/>
            <a:ext cx="54864" cy="1371600"/>
          </a:xfrm>
          <a:prstGeom prst="rect">
            <a:avLst/>
          </a:prstGeom>
          <a:solidFill>
            <a:srgbClr val="A23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3246120" y="2423160"/>
            <a:ext cx="210312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3600" b="1">
                <a:solidFill>
                  <a:srgbClr val="2A463C"/>
                </a:solidFill>
                <a:latin typeface="Microsoft JhengHei"/>
              </a:rPr>
              <a:t>30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246120" y="3063240"/>
            <a:ext cx="21031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0">
                <a:solidFill>
                  <a:srgbClr val="5A5A52"/>
                </a:solidFill>
                <a:latin typeface="Microsoft JhengHei"/>
              </a:rPr>
              <a:t>新站規劃頁面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623560" y="2286000"/>
            <a:ext cx="2377440" cy="13716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5623560" y="2286000"/>
            <a:ext cx="54864" cy="1371600"/>
          </a:xfrm>
          <a:prstGeom prst="rect">
            <a:avLst/>
          </a:prstGeom>
          <a:solidFill>
            <a:srgbClr val="A23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5806440" y="2423160"/>
            <a:ext cx="210312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3600" b="1">
                <a:solidFill>
                  <a:srgbClr val="2A463C"/>
                </a:solidFill>
                <a:latin typeface="Microsoft JhengHei"/>
              </a:rPr>
              <a:t>7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806440" y="3063240"/>
            <a:ext cx="21031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0">
                <a:solidFill>
                  <a:srgbClr val="5A5A52"/>
                </a:solidFill>
                <a:latin typeface="Microsoft JhengHei"/>
              </a:rPr>
              <a:t>症狀著陸頁</a:t>
            </a:r>
          </a:p>
        </p:txBody>
      </p:sp>
      <p:sp>
        <p:nvSpPr>
          <p:cNvPr id="22" name="Rectangle 21"/>
          <p:cNvSpPr/>
          <p:nvPr/>
        </p:nvSpPr>
        <p:spPr>
          <a:xfrm>
            <a:off x="8183879" y="2286000"/>
            <a:ext cx="2377440" cy="13716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8183879" y="2286000"/>
            <a:ext cx="54864" cy="1371600"/>
          </a:xfrm>
          <a:prstGeom prst="rect">
            <a:avLst/>
          </a:prstGeom>
          <a:solidFill>
            <a:srgbClr val="A23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8366759" y="2423160"/>
            <a:ext cx="210312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3600" b="1">
                <a:solidFill>
                  <a:srgbClr val="2A463C"/>
                </a:solidFill>
                <a:latin typeface="Microsoft JhengHei"/>
              </a:rPr>
              <a:t>50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366759" y="3063240"/>
            <a:ext cx="21031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0">
                <a:solidFill>
                  <a:srgbClr val="5A5A52"/>
                </a:solidFill>
                <a:latin typeface="Microsoft JhengHei"/>
              </a:rPr>
              <a:t>品牌視覺資產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02920" y="3931920"/>
            <a:ext cx="11155680" cy="21945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685800" y="4069080"/>
            <a:ext cx="107899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1">
                <a:solidFill>
                  <a:srgbClr val="2A463C"/>
                </a:solidFill>
                <a:latin typeface="Microsoft JhengHei"/>
              </a:rPr>
              <a:t>本簡報目的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85800" y="4434840"/>
            <a:ext cx="1051560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600"/>
              </a:spcAft>
            </a:pPr>
            <a:r>
              <a:rPr sz="1200">
                <a:solidFill>
                  <a:srgbClr val="1A1A18"/>
                </a:solidFill>
                <a:latin typeface="Microsoft JhengHei"/>
              </a:rPr>
              <a:t>分析對標網站（養康中醫館）的設計與獲客策略</a:t>
            </a:r>
          </a:p>
          <a:p>
            <a:pPr>
              <a:lnSpc>
                <a:spcPct val="115000"/>
              </a:lnSpc>
              <a:spcAft>
                <a:spcPts val="600"/>
              </a:spcAft>
            </a:pPr>
            <a:r>
              <a:rPr sz="1200">
                <a:solidFill>
                  <a:srgbClr val="1A1A18"/>
                </a:solidFill>
                <a:latin typeface="Microsoft JhengHei"/>
              </a:rPr>
              <a:t>診斷現行網站之結構、SEO、轉化不足</a:t>
            </a:r>
          </a:p>
          <a:p>
            <a:pPr>
              <a:lnSpc>
                <a:spcPct val="115000"/>
              </a:lnSpc>
              <a:spcAft>
                <a:spcPts val="600"/>
              </a:spcAft>
            </a:pPr>
            <a:r>
              <a:rPr sz="1200">
                <a:solidFill>
                  <a:srgbClr val="1A1A18"/>
                </a:solidFill>
                <a:latin typeface="Microsoft JhengHei"/>
              </a:rPr>
              <a:t>說明新站重建之具體改善及後續行銷方向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2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A23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73152"/>
            <a:ext cx="12191695" cy="960120"/>
          </a:xfrm>
          <a:prstGeom prst="rect">
            <a:avLst/>
          </a:prstGeom>
          <a:solidFill>
            <a:srgbClr val="2A46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02920" y="201168"/>
            <a:ext cx="10972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1">
                <a:solidFill>
                  <a:srgbClr val="AE8A47"/>
                </a:solidFill>
                <a:latin typeface="Microsoft JhengHei"/>
              </a:rPr>
              <a:t>02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438912"/>
            <a:ext cx="109728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800" b="1" dirty="0" err="1">
                <a:solidFill>
                  <a:srgbClr val="FFFFFF"/>
                </a:solidFill>
                <a:latin typeface="Microsoft JhengHei"/>
              </a:rPr>
              <a:t>對標網站：養康中醫館</a:t>
            </a:r>
            <a:endParaRPr sz="2800" b="1" dirty="0">
              <a:solidFill>
                <a:srgbClr val="FFFFFF"/>
              </a:solidFill>
              <a:latin typeface="Microsoft JhengHei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502920" y="6446520"/>
            <a:ext cx="5486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900" b="0">
                <a:solidFill>
                  <a:srgbClr val="5A5A52"/>
                </a:solidFill>
                <a:latin typeface="Microsoft JhengHei"/>
              </a:rPr>
              <a:t>頤安本草 · 伍厚臻中醫師 ｜ 網站重建方案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200" y="6446520"/>
            <a:ext cx="21031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20000"/>
              </a:lnSpc>
            </a:pPr>
            <a:r>
              <a:rPr sz="900" b="0">
                <a:solidFill>
                  <a:srgbClr val="5A5A52"/>
                </a:solidFill>
                <a:latin typeface="Microsoft JhengHei"/>
              </a:rPr>
              <a:t>2026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" y="1325880"/>
            <a:ext cx="5394960" cy="411480"/>
          </a:xfrm>
          <a:prstGeom prst="rect">
            <a:avLst/>
          </a:prstGeom>
          <a:solidFill>
            <a:srgbClr val="2A46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502920" y="1737360"/>
            <a:ext cx="5394960" cy="34747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40080" y="1874520"/>
            <a:ext cx="5120640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600"/>
              </a:spcAft>
            </a:pPr>
            <a:r>
              <a:rPr sz="1100">
                <a:solidFill>
                  <a:srgbClr val="1A1A18"/>
                </a:solidFill>
                <a:latin typeface="Microsoft JhengHei"/>
              </a:rPr>
              <a:t>WordPress 多頁，四層下拉導航</a:t>
            </a:r>
          </a:p>
          <a:p>
            <a:pPr>
              <a:lnSpc>
                <a:spcPct val="115000"/>
              </a:lnSpc>
              <a:spcAft>
                <a:spcPts val="600"/>
              </a:spcAft>
            </a:pPr>
            <a:r>
              <a:rPr sz="1100">
                <a:solidFill>
                  <a:srgbClr val="1A1A18"/>
                </a:solidFill>
                <a:latin typeface="Microsoft JhengHei"/>
              </a:rPr>
              <a:t>綠色臨床風格 + 診所實景 Hero</a:t>
            </a:r>
          </a:p>
          <a:p>
            <a:pPr>
              <a:lnSpc>
                <a:spcPct val="115000"/>
              </a:lnSpc>
              <a:spcAft>
                <a:spcPts val="600"/>
              </a:spcAft>
            </a:pPr>
            <a:r>
              <a:rPr sz="1100">
                <a:solidFill>
                  <a:srgbClr val="1A1A18"/>
                </a:solidFill>
                <a:latin typeface="Microsoft JhengHei"/>
              </a:rPr>
              <a:t>首屏：地區 + 專科 + WhatsApp 24h</a:t>
            </a:r>
          </a:p>
          <a:p>
            <a:pPr>
              <a:lnSpc>
                <a:spcPct val="115000"/>
              </a:lnSpc>
              <a:spcAft>
                <a:spcPts val="600"/>
              </a:spcAft>
            </a:pPr>
            <a:r>
              <a:rPr sz="1100">
                <a:solidFill>
                  <a:srgbClr val="1A1A18"/>
                </a:solidFill>
                <a:latin typeface="Microsoft JhengHei"/>
              </a:rPr>
              <a:t>13 年、8,000+ 年診量、中大學歷</a:t>
            </a:r>
          </a:p>
          <a:p>
            <a:pPr>
              <a:lnSpc>
                <a:spcPct val="115000"/>
              </a:lnSpc>
              <a:spcAft>
                <a:spcPts val="600"/>
              </a:spcAft>
            </a:pPr>
            <a:r>
              <a:rPr sz="1100">
                <a:solidFill>
                  <a:srgbClr val="1A1A18"/>
                </a:solidFill>
                <a:latin typeface="Microsoft JhengHei"/>
              </a:rPr>
              <a:t>FAQ 10+ 題、Blog「中醫冷知識」</a:t>
            </a:r>
          </a:p>
          <a:p>
            <a:pPr>
              <a:lnSpc>
                <a:spcPct val="115000"/>
              </a:lnSpc>
              <a:spcAft>
                <a:spcPts val="600"/>
              </a:spcAft>
            </a:pPr>
            <a:r>
              <a:rPr sz="1100">
                <a:solidFill>
                  <a:srgbClr val="1A1A18"/>
                </a:solidFill>
                <a:latin typeface="Microsoft JhengHei"/>
              </a:rPr>
              <a:t>Joinchat WhatsApp 小工具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263640" y="1325880"/>
            <a:ext cx="5394960" cy="411480"/>
          </a:xfrm>
          <a:prstGeom prst="rect">
            <a:avLst/>
          </a:prstGeom>
          <a:solidFill>
            <a:srgbClr val="A23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6400800" y="1380744"/>
            <a:ext cx="512064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1" dirty="0" err="1">
                <a:solidFill>
                  <a:srgbClr val="FFFFFF"/>
                </a:solidFill>
                <a:latin typeface="Microsoft JhengHei"/>
              </a:rPr>
              <a:t>獲客策略特徵</a:t>
            </a:r>
            <a:endParaRPr sz="1300" b="1" dirty="0">
              <a:solidFill>
                <a:srgbClr val="FFFFFF"/>
              </a:solidFill>
              <a:latin typeface="Microsoft JhengHei"/>
            </a:endParaRPr>
          </a:p>
        </p:txBody>
      </p:sp>
      <p:sp>
        <p:nvSpPr>
          <p:cNvPr id="16" name="Rectangle 15"/>
          <p:cNvSpPr/>
          <p:nvPr/>
        </p:nvSpPr>
        <p:spPr>
          <a:xfrm>
            <a:off x="6263640" y="1737360"/>
            <a:ext cx="5394960" cy="34747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6400800" y="1874520"/>
            <a:ext cx="5120640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600"/>
              </a:spcAft>
            </a:pPr>
            <a:r>
              <a:rPr sz="1100">
                <a:solidFill>
                  <a:srgbClr val="1A1A18"/>
                </a:solidFill>
                <a:latin typeface="Microsoft JhengHei"/>
              </a:rPr>
              <a:t>SEO 長尾：每症狀獨立著陸頁</a:t>
            </a:r>
          </a:p>
          <a:p>
            <a:pPr>
              <a:lnSpc>
                <a:spcPct val="115000"/>
              </a:lnSpc>
              <a:spcAft>
                <a:spcPts val="600"/>
              </a:spcAft>
            </a:pPr>
            <a:r>
              <a:rPr sz="1100">
                <a:solidFill>
                  <a:srgbClr val="1A1A18"/>
                </a:solidFill>
                <a:latin typeface="Microsoft JhengHei"/>
              </a:rPr>
              <a:t>首診優惠：皮膚科免診金</a:t>
            </a:r>
          </a:p>
          <a:p>
            <a:pPr>
              <a:lnSpc>
                <a:spcPct val="115000"/>
              </a:lnSpc>
              <a:spcAft>
                <a:spcPts val="600"/>
              </a:spcAft>
            </a:pPr>
            <a:r>
              <a:rPr sz="1100">
                <a:solidFill>
                  <a:srgbClr val="1A1A18"/>
                </a:solidFill>
                <a:latin typeface="Microsoft JhengHei"/>
              </a:rPr>
              <a:t>IG KOL 素人化體驗分享</a:t>
            </a:r>
          </a:p>
          <a:p>
            <a:pPr>
              <a:lnSpc>
                <a:spcPct val="115000"/>
              </a:lnSpc>
              <a:spcAft>
                <a:spcPts val="600"/>
              </a:spcAft>
            </a:pPr>
            <a:r>
              <a:rPr sz="1100">
                <a:solidFill>
                  <a:srgbClr val="1A1A18"/>
                </a:solidFill>
                <a:latin typeface="Microsoft JhengHei"/>
              </a:rPr>
              <a:t>PIXNET／Blogspot 體驗文</a:t>
            </a:r>
          </a:p>
          <a:p>
            <a:pPr>
              <a:lnSpc>
                <a:spcPct val="115000"/>
              </a:lnSpc>
              <a:spcAft>
                <a:spcPts val="600"/>
              </a:spcAft>
            </a:pPr>
            <a:r>
              <a:rPr sz="1100">
                <a:solidFill>
                  <a:srgbClr val="1A1A18"/>
                </a:solidFill>
                <a:latin typeface="Microsoft JhengHei"/>
              </a:rPr>
              <a:t>付費廣告 → 療程銷售頁</a:t>
            </a:r>
          </a:p>
          <a:p>
            <a:pPr>
              <a:lnSpc>
                <a:spcPct val="115000"/>
              </a:lnSpc>
              <a:spcAft>
                <a:spcPts val="600"/>
              </a:spcAft>
            </a:pPr>
            <a:r>
              <a:rPr sz="1100">
                <a:solidFill>
                  <a:srgbClr val="1A1A18"/>
                </a:solidFill>
                <a:latin typeface="Microsoft JhengHei"/>
              </a:rPr>
              <a:t>專業 copywriter 撰寫文案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1380744"/>
            <a:ext cx="512064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1">
                <a:solidFill>
                  <a:srgbClr val="FFFFFF"/>
                </a:solidFill>
                <a:latin typeface="Microsoft JhengHei"/>
              </a:rPr>
              <a:t>網站設計特徵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824713" y="1389888"/>
            <a:ext cx="10972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0" dirty="0">
                <a:solidFill>
                  <a:srgbClr val="E8E0D0"/>
                </a:solidFill>
                <a:latin typeface="Microsoft JhengHei"/>
              </a:rPr>
              <a:t>honscmc.com ｜ </a:t>
            </a:r>
            <a:r>
              <a:rPr sz="1200" b="0" dirty="0" err="1">
                <a:solidFill>
                  <a:srgbClr val="E8E0D0"/>
                </a:solidFill>
                <a:latin typeface="Microsoft JhengHei"/>
              </a:rPr>
              <a:t>尖沙咀</a:t>
            </a:r>
            <a:r>
              <a:rPr sz="1200" b="0" dirty="0">
                <a:solidFill>
                  <a:srgbClr val="E8E0D0"/>
                </a:solidFill>
                <a:latin typeface="Microsoft JhengHei"/>
              </a:rPr>
              <a:t> · </a:t>
            </a:r>
            <a:r>
              <a:rPr sz="1200" b="0" dirty="0" err="1">
                <a:solidFill>
                  <a:srgbClr val="E8E0D0"/>
                </a:solidFill>
                <a:latin typeface="Microsoft JhengHei"/>
              </a:rPr>
              <a:t>皮膚／婦科／美容塑形</a:t>
            </a:r>
            <a:endParaRPr sz="1200" b="0" dirty="0">
              <a:solidFill>
                <a:srgbClr val="E8E0D0"/>
              </a:solidFill>
              <a:latin typeface="Microsoft JhengHe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2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A23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73152"/>
            <a:ext cx="12191695" cy="960120"/>
          </a:xfrm>
          <a:prstGeom prst="rect">
            <a:avLst/>
          </a:prstGeom>
          <a:solidFill>
            <a:srgbClr val="2A46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02920" y="201168"/>
            <a:ext cx="10972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1">
                <a:solidFill>
                  <a:srgbClr val="AE8A47"/>
                </a:solidFill>
                <a:latin typeface="Microsoft JhengHei"/>
              </a:rPr>
              <a:t>02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438912"/>
            <a:ext cx="109728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800" b="1">
                <a:solidFill>
                  <a:srgbClr val="FFFFFF"/>
                </a:solidFill>
                <a:latin typeface="Microsoft JhengHei"/>
              </a:rPr>
              <a:t>養康行銷策略：IG 素人化種草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104528"/>
            <a:ext cx="10972800" cy="293863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1" dirty="0" err="1">
                <a:solidFill>
                  <a:srgbClr val="2A463C"/>
                </a:solidFill>
                <a:latin typeface="Microsoft JhengHei"/>
              </a:rPr>
              <a:t>官網承接</a:t>
            </a:r>
            <a:r>
              <a:rPr sz="1200" b="0" dirty="0">
                <a:solidFill>
                  <a:srgbClr val="E8E0D0"/>
                </a:solidFill>
                <a:latin typeface="Microsoft JhengHei"/>
              </a:rPr>
              <a:t> </a:t>
            </a:r>
            <a:r>
              <a:rPr sz="1100" b="1" dirty="0">
                <a:solidFill>
                  <a:srgbClr val="2A463C"/>
                </a:solidFill>
                <a:latin typeface="Microsoft JhengHei"/>
              </a:rPr>
              <a:t>+ </a:t>
            </a:r>
            <a:r>
              <a:rPr sz="1100" b="1" dirty="0" err="1">
                <a:solidFill>
                  <a:srgbClr val="2A463C"/>
                </a:solidFill>
                <a:latin typeface="Microsoft JhengHei"/>
              </a:rPr>
              <a:t>社交種草</a:t>
            </a:r>
            <a:r>
              <a:rPr sz="1100" b="1" dirty="0">
                <a:solidFill>
                  <a:srgbClr val="2A463C"/>
                </a:solidFill>
                <a:latin typeface="Microsoft JhengHei"/>
              </a:rPr>
              <a:t> + </a:t>
            </a:r>
            <a:r>
              <a:rPr sz="1100" b="1" dirty="0" err="1">
                <a:solidFill>
                  <a:srgbClr val="2A463C"/>
                </a:solidFill>
                <a:latin typeface="Microsoft JhengHei"/>
              </a:rPr>
              <a:t>優惠降門檻</a:t>
            </a:r>
            <a:endParaRPr sz="1100" b="1" dirty="0">
              <a:solidFill>
                <a:srgbClr val="2A463C"/>
              </a:solidFill>
              <a:latin typeface="Microsoft JhengHei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502920" y="6446520"/>
            <a:ext cx="5486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900" b="0">
                <a:solidFill>
                  <a:srgbClr val="5A5A52"/>
                </a:solidFill>
                <a:latin typeface="Microsoft JhengHei"/>
              </a:rPr>
              <a:t>頤安本草 · 伍厚臻中醫師 ｜ 網站重建方案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200" y="6446520"/>
            <a:ext cx="21031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20000"/>
              </a:lnSpc>
            </a:pPr>
            <a:r>
              <a:rPr sz="900" b="0">
                <a:solidFill>
                  <a:srgbClr val="5A5A52"/>
                </a:solidFill>
                <a:latin typeface="Microsoft JhengHei"/>
              </a:rPr>
              <a:t>2026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" y="1417320"/>
            <a:ext cx="11155680" cy="658368"/>
          </a:xfrm>
          <a:prstGeom prst="rect">
            <a:avLst/>
          </a:prstGeom>
          <a:solidFill>
            <a:srgbClr val="F7F2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40080" y="1527048"/>
            <a:ext cx="22860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1" dirty="0">
                <a:solidFill>
                  <a:srgbClr val="2A463C"/>
                </a:solidFill>
                <a:latin typeface="Microsoft JhengHei"/>
              </a:rPr>
              <a:t>SEO </a:t>
            </a:r>
            <a:r>
              <a:rPr sz="1100" b="1" dirty="0" err="1">
                <a:solidFill>
                  <a:srgbClr val="2A463C"/>
                </a:solidFill>
                <a:latin typeface="Microsoft JhengHei"/>
              </a:rPr>
              <a:t>長尾佈局</a:t>
            </a:r>
            <a:endParaRPr sz="1100" b="1" dirty="0">
              <a:solidFill>
                <a:srgbClr val="2A463C"/>
              </a:solidFill>
              <a:latin typeface="Microsoft JhengHei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3017520" y="1527048"/>
            <a:ext cx="41148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0">
                <a:solidFill>
                  <a:srgbClr val="1A1A18"/>
                </a:solidFill>
                <a:latin typeface="Microsoft JhengHei"/>
              </a:rPr>
              <a:t>每症狀／地區獨立頁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0" y="1527048"/>
            <a:ext cx="41148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0">
                <a:solidFill>
                  <a:srgbClr val="5A5A52"/>
                </a:solidFill>
                <a:latin typeface="Microsoft JhengHei"/>
              </a:rPr>
              <a:t>截取「暗瘡 中醫 尖沙咀」流量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02920" y="2075688"/>
            <a:ext cx="11155680" cy="65836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640080" y="2185416"/>
            <a:ext cx="22860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1">
                <a:solidFill>
                  <a:srgbClr val="2A463C"/>
                </a:solidFill>
                <a:latin typeface="Microsoft JhengHei"/>
              </a:rPr>
              <a:t>WhatsApp 優先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017520" y="2185416"/>
            <a:ext cx="41148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0">
                <a:solidFill>
                  <a:srgbClr val="1A1A18"/>
                </a:solidFill>
                <a:latin typeface="Microsoft JhengHei"/>
              </a:rPr>
              <a:t>24h 預約、Joinchat 浮窗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315200" y="2185416"/>
            <a:ext cx="41148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0">
                <a:solidFill>
                  <a:srgbClr val="5A5A52"/>
                </a:solidFill>
                <a:latin typeface="Microsoft JhengHei"/>
              </a:rPr>
              <a:t>符合香港用戶習慣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02920" y="2734056"/>
            <a:ext cx="11155680" cy="658368"/>
          </a:xfrm>
          <a:prstGeom prst="rect">
            <a:avLst/>
          </a:prstGeom>
          <a:solidFill>
            <a:srgbClr val="F7F2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640080" y="2843784"/>
            <a:ext cx="22860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1">
                <a:solidFill>
                  <a:srgbClr val="2A463C"/>
                </a:solidFill>
                <a:latin typeface="Microsoft JhengHei"/>
              </a:rPr>
              <a:t>首診優惠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017520" y="2843784"/>
            <a:ext cx="41148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0">
                <a:solidFill>
                  <a:srgbClr val="1A1A18"/>
                </a:solidFill>
                <a:latin typeface="Microsoft JhengHei"/>
              </a:rPr>
              <a:t>皮膚科免診金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315200" y="2843784"/>
            <a:ext cx="41148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0">
                <a:solidFill>
                  <a:srgbClr val="5A5A52"/>
                </a:solidFill>
                <a:latin typeface="Microsoft JhengHei"/>
              </a:rPr>
              <a:t>提高廣告轉化率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02920" y="3392424"/>
            <a:ext cx="11155680" cy="65836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640080" y="3502152"/>
            <a:ext cx="22860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1">
                <a:solidFill>
                  <a:srgbClr val="2A463C"/>
                </a:solidFill>
                <a:latin typeface="Microsoft JhengHei"/>
              </a:rPr>
              <a:t>IG 素人化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017520" y="3502152"/>
            <a:ext cx="41148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0">
                <a:solidFill>
                  <a:srgbClr val="1A1A18"/>
                </a:solidFill>
                <a:latin typeface="Microsoft JhengHei"/>
              </a:rPr>
              <a:t>KOL 以「第一次針灸」等口吻發文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315200" y="3502152"/>
            <a:ext cx="41148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0">
                <a:solidFill>
                  <a:srgbClr val="5A5A52"/>
                </a:solidFill>
                <a:latin typeface="Microsoft JhengHei"/>
              </a:rPr>
              <a:t>製造口碑，非硬銷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02920" y="4050792"/>
            <a:ext cx="11155680" cy="658368"/>
          </a:xfrm>
          <a:prstGeom prst="rect">
            <a:avLst/>
          </a:prstGeom>
          <a:solidFill>
            <a:srgbClr val="F7F2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640080" y="4160520"/>
            <a:ext cx="22860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1">
                <a:solidFill>
                  <a:srgbClr val="2A463C"/>
                </a:solidFill>
                <a:latin typeface="Microsoft JhengHei"/>
              </a:rPr>
              <a:t>部落客佈局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017520" y="4160520"/>
            <a:ext cx="41148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0">
                <a:solidFill>
                  <a:srgbClr val="1A1A18"/>
                </a:solidFill>
                <a:latin typeface="Microsoft JhengHei"/>
              </a:rPr>
              <a:t>PIXNET 長文體驗文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315200" y="4160520"/>
            <a:ext cx="41148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0">
                <a:solidFill>
                  <a:srgbClr val="5A5A52"/>
                </a:solidFill>
                <a:latin typeface="Microsoft JhengHei"/>
              </a:rPr>
              <a:t>外鏈 + 品牌詞佔位</a:t>
            </a:r>
          </a:p>
        </p:txBody>
      </p:sp>
      <p:sp>
        <p:nvSpPr>
          <p:cNvPr id="30" name="Rectangle 29"/>
          <p:cNvSpPr/>
          <p:nvPr/>
        </p:nvSpPr>
        <p:spPr>
          <a:xfrm>
            <a:off x="502920" y="4709160"/>
            <a:ext cx="11155680" cy="65836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640080" y="4818888"/>
            <a:ext cx="22860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1">
                <a:solidFill>
                  <a:srgbClr val="2A463C"/>
                </a:solidFill>
                <a:latin typeface="Microsoft JhengHei"/>
              </a:rPr>
              <a:t>廣告著陸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017520" y="4818888"/>
            <a:ext cx="41148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0">
                <a:solidFill>
                  <a:srgbClr val="1A1A18"/>
                </a:solidFill>
                <a:latin typeface="Microsoft JhengHei"/>
              </a:rPr>
              <a:t>AI 艾灸等獨立銷售頁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315200" y="4818888"/>
            <a:ext cx="41148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0">
                <a:solidFill>
                  <a:srgbClr val="5A5A52"/>
                </a:solidFill>
                <a:latin typeface="Microsoft JhengHei"/>
              </a:rPr>
              <a:t>導向高毛利療程</a:t>
            </a:r>
          </a:p>
        </p:txBody>
      </p:sp>
      <p:sp>
        <p:nvSpPr>
          <p:cNvPr id="34" name="Rectangle 33"/>
          <p:cNvSpPr/>
          <p:nvPr/>
        </p:nvSpPr>
        <p:spPr>
          <a:xfrm>
            <a:off x="502920" y="5486400"/>
            <a:ext cx="11155680" cy="777240"/>
          </a:xfrm>
          <a:prstGeom prst="rect">
            <a:avLst/>
          </a:prstGeom>
          <a:solidFill>
            <a:srgbClr val="2A46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685800" y="5596128"/>
            <a:ext cx="1078992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0">
                <a:solidFill>
                  <a:srgbClr val="F7F2E7"/>
                </a:solidFill>
                <a:latin typeface="Microsoft JhengHei"/>
              </a:rPr>
              <a:t>觀察：官網「用家留言」嵌入 IG 貼文（@hons_cmc），lifestyle KOL 以第一人稱分享到店體驗，同時服務社交證明與 IG 探索流量。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2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A23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73152"/>
            <a:ext cx="12191695" cy="960120"/>
          </a:xfrm>
          <a:prstGeom prst="rect">
            <a:avLst/>
          </a:prstGeom>
          <a:solidFill>
            <a:srgbClr val="2A46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02920" y="201168"/>
            <a:ext cx="10972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1">
                <a:solidFill>
                  <a:srgbClr val="AE8A47"/>
                </a:solidFill>
                <a:latin typeface="Microsoft JhengHei"/>
              </a:rPr>
              <a:t>03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438912"/>
            <a:ext cx="109728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800" b="1" dirty="0" err="1">
                <a:solidFill>
                  <a:srgbClr val="FFFFFF"/>
                </a:solidFill>
                <a:latin typeface="Microsoft JhengHei"/>
              </a:rPr>
              <a:t>現行網站不足</a:t>
            </a:r>
            <a:endParaRPr sz="2800" b="1" dirty="0">
              <a:solidFill>
                <a:srgbClr val="FFFFFF"/>
              </a:solidFill>
              <a:latin typeface="Microsoft JhengHei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502920" y="1051560"/>
            <a:ext cx="10972800" cy="293863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1" dirty="0">
                <a:latin typeface="Microsoft JhengHei"/>
              </a:rPr>
              <a:t>oakvilles.com ｜ 2026 年 6 </a:t>
            </a:r>
            <a:r>
              <a:rPr sz="1200" b="1" dirty="0" err="1">
                <a:latin typeface="Microsoft JhengHei"/>
              </a:rPr>
              <a:t>月審視</a:t>
            </a:r>
            <a:endParaRPr sz="1200" b="1" dirty="0">
              <a:latin typeface="Microsoft JhengHei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502920" y="6446520"/>
            <a:ext cx="5486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900" b="0">
                <a:solidFill>
                  <a:srgbClr val="5A5A52"/>
                </a:solidFill>
                <a:latin typeface="Microsoft JhengHei"/>
              </a:rPr>
              <a:t>頤安本草 · 伍厚臻中醫師 ｜ 網站重建方案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200" y="6446520"/>
            <a:ext cx="21031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20000"/>
              </a:lnSpc>
            </a:pPr>
            <a:r>
              <a:rPr sz="900" b="0">
                <a:solidFill>
                  <a:srgbClr val="5A5A52"/>
                </a:solidFill>
                <a:latin typeface="Microsoft JhengHei"/>
              </a:rPr>
              <a:t>2026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" y="1371600"/>
            <a:ext cx="3200400" cy="365760"/>
          </a:xfrm>
          <a:prstGeom prst="rect">
            <a:avLst/>
          </a:prstGeom>
          <a:solidFill>
            <a:srgbClr val="2A46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3794760" y="1371600"/>
            <a:ext cx="4114800" cy="365760"/>
          </a:xfrm>
          <a:prstGeom prst="rect">
            <a:avLst/>
          </a:prstGeom>
          <a:solidFill>
            <a:srgbClr val="2A46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8001000" y="1371600"/>
            <a:ext cx="3657600" cy="365760"/>
          </a:xfrm>
          <a:prstGeom prst="rect">
            <a:avLst/>
          </a:prstGeom>
          <a:solidFill>
            <a:srgbClr val="2A46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40080" y="1417320"/>
            <a:ext cx="27432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1">
                <a:solidFill>
                  <a:srgbClr val="FFFFFF"/>
                </a:solidFill>
                <a:latin typeface="Microsoft JhengHei"/>
              </a:rPr>
              <a:t>維度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931920" y="1417320"/>
            <a:ext cx="27432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1">
                <a:solidFill>
                  <a:srgbClr val="FFFFFF"/>
                </a:solidFill>
                <a:latin typeface="Microsoft JhengHei"/>
              </a:rPr>
              <a:t>現況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138160" y="1417320"/>
            <a:ext cx="27432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1">
                <a:solidFill>
                  <a:srgbClr val="FFFFFF"/>
                </a:solidFill>
                <a:latin typeface="Microsoft JhengHei"/>
              </a:rPr>
              <a:t>影響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02920" y="1783080"/>
            <a:ext cx="11155680" cy="685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640080" y="1874520"/>
            <a:ext cx="292608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1">
                <a:solidFill>
                  <a:srgbClr val="A23A2E"/>
                </a:solidFill>
                <a:latin typeface="Microsoft JhengHei"/>
              </a:rPr>
              <a:t>資訊架構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794760" y="1874520"/>
            <a:ext cx="402336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0">
                <a:solidFill>
                  <a:srgbClr val="1A1A18"/>
                </a:solidFill>
                <a:latin typeface="Microsoft JhengHei"/>
              </a:rPr>
              <a:t>實質單頁，導航僅 5 項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001000" y="1874520"/>
            <a:ext cx="347472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0">
                <a:solidFill>
                  <a:srgbClr val="5A5A52"/>
                </a:solidFill>
                <a:latin typeface="Microsoft JhengHei"/>
              </a:rPr>
              <a:t>無長尾 SEO 著陸頁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02920" y="2468880"/>
            <a:ext cx="11155680" cy="685800"/>
          </a:xfrm>
          <a:prstGeom prst="rect">
            <a:avLst/>
          </a:prstGeom>
          <a:solidFill>
            <a:srgbClr val="F7F2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640080" y="2560320"/>
            <a:ext cx="292608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1">
                <a:solidFill>
                  <a:srgbClr val="A23A2E"/>
                </a:solidFill>
                <a:latin typeface="Microsoft JhengHei"/>
              </a:rPr>
              <a:t>專科覆蓋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794760" y="2560320"/>
            <a:ext cx="402336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0">
                <a:solidFill>
                  <a:srgbClr val="1A1A18"/>
                </a:solidFill>
                <a:latin typeface="Microsoft JhengHei"/>
              </a:rPr>
              <a:t>首頁只展示皮膚、生育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001000" y="2560320"/>
            <a:ext cx="347472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0">
                <a:solidFill>
                  <a:srgbClr val="5A5A52"/>
                </a:solidFill>
                <a:latin typeface="Microsoft JhengHei"/>
              </a:rPr>
              <a:t>標語卻提及痛症，訊息不一致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02920" y="3154680"/>
            <a:ext cx="11155680" cy="685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640080" y="3246120"/>
            <a:ext cx="292608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1">
                <a:solidFill>
                  <a:srgbClr val="A23A2E"/>
                </a:solidFill>
                <a:latin typeface="Microsoft JhengHei"/>
              </a:rPr>
              <a:t>SEO 技術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794760" y="3246120"/>
            <a:ext cx="402336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0">
                <a:solidFill>
                  <a:srgbClr val="1A1A18"/>
                </a:solidFill>
                <a:latin typeface="Microsoft JhengHei"/>
              </a:rPr>
              <a:t>無 sitemap、結構化資料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001000" y="3246120"/>
            <a:ext cx="347472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0">
                <a:solidFill>
                  <a:srgbClr val="5A5A52"/>
                </a:solidFill>
                <a:latin typeface="Microsoft JhengHei"/>
              </a:rPr>
              <a:t>本地搜尋 relevance 弱</a:t>
            </a:r>
          </a:p>
        </p:txBody>
      </p:sp>
      <p:sp>
        <p:nvSpPr>
          <p:cNvPr id="28" name="Rectangle 27"/>
          <p:cNvSpPr/>
          <p:nvPr/>
        </p:nvSpPr>
        <p:spPr>
          <a:xfrm>
            <a:off x="502920" y="3840480"/>
            <a:ext cx="11155680" cy="685800"/>
          </a:xfrm>
          <a:prstGeom prst="rect">
            <a:avLst/>
          </a:prstGeom>
          <a:solidFill>
            <a:srgbClr val="F7F2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640080" y="3931920"/>
            <a:ext cx="292608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1">
                <a:solidFill>
                  <a:srgbClr val="A23A2E"/>
                </a:solidFill>
                <a:latin typeface="Microsoft JhengHei"/>
              </a:rPr>
              <a:t>轉化設計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794760" y="3931920"/>
            <a:ext cx="402336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0">
                <a:solidFill>
                  <a:srgbClr val="1A1A18"/>
                </a:solidFill>
                <a:latin typeface="Microsoft JhengHei"/>
              </a:rPr>
              <a:t>僅 WhatsApp 浮窗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001000" y="3931920"/>
            <a:ext cx="347472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0">
                <a:solidFill>
                  <a:srgbClr val="5A5A52"/>
                </a:solidFill>
                <a:latin typeface="Microsoft JhengHei"/>
              </a:rPr>
              <a:t>無分步預約、無收費透明</a:t>
            </a:r>
          </a:p>
        </p:txBody>
      </p:sp>
      <p:sp>
        <p:nvSpPr>
          <p:cNvPr id="32" name="Rectangle 31"/>
          <p:cNvSpPr/>
          <p:nvPr/>
        </p:nvSpPr>
        <p:spPr>
          <a:xfrm>
            <a:off x="502920" y="4526280"/>
            <a:ext cx="11155680" cy="685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640080" y="4617720"/>
            <a:ext cx="292608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1">
                <a:solidFill>
                  <a:srgbClr val="A23A2E"/>
                </a:solidFill>
                <a:latin typeface="Microsoft JhengHei"/>
              </a:rPr>
              <a:t>信任建立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3794760" y="4617720"/>
            <a:ext cx="402336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0">
                <a:solidFill>
                  <a:srgbClr val="1A1A18"/>
                </a:solidFill>
                <a:latin typeface="Microsoft JhengHei"/>
              </a:rPr>
              <a:t>缺評價、診所圖、FAQ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001000" y="4617720"/>
            <a:ext cx="347472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0">
                <a:solidFill>
                  <a:srgbClr val="5A5A52"/>
                </a:solidFill>
                <a:latin typeface="Microsoft JhengHei"/>
              </a:rPr>
              <a:t>首次訪客難完成信任測試</a:t>
            </a:r>
          </a:p>
        </p:txBody>
      </p:sp>
      <p:sp>
        <p:nvSpPr>
          <p:cNvPr id="36" name="Rectangle 35"/>
          <p:cNvSpPr/>
          <p:nvPr/>
        </p:nvSpPr>
        <p:spPr>
          <a:xfrm>
            <a:off x="502920" y="5212080"/>
            <a:ext cx="11155680" cy="685800"/>
          </a:xfrm>
          <a:prstGeom prst="rect">
            <a:avLst/>
          </a:prstGeom>
          <a:solidFill>
            <a:srgbClr val="F7F2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640080" y="5303520"/>
            <a:ext cx="292608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1">
                <a:solidFill>
                  <a:srgbClr val="A23A2E"/>
                </a:solidFill>
                <a:latin typeface="Microsoft JhengHei"/>
              </a:rPr>
              <a:t>合規風險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3794760" y="5303520"/>
            <a:ext cx="402336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0">
                <a:solidFill>
                  <a:srgbClr val="1A1A18"/>
                </a:solidFill>
                <a:latin typeface="Microsoft JhengHei"/>
              </a:rPr>
              <a:t>「數週內可見皮損消退」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001000" y="5303520"/>
            <a:ext cx="347472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0">
                <a:solidFill>
                  <a:srgbClr val="5A5A52"/>
                </a:solidFill>
                <a:latin typeface="Microsoft JhengHei"/>
              </a:rPr>
              <a:t>文案筆誤（暗瘌）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2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A23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73152"/>
            <a:ext cx="12191695" cy="960120"/>
          </a:xfrm>
          <a:prstGeom prst="rect">
            <a:avLst/>
          </a:prstGeom>
          <a:solidFill>
            <a:srgbClr val="2A46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02920" y="201168"/>
            <a:ext cx="10972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1">
                <a:solidFill>
                  <a:srgbClr val="AE8A47"/>
                </a:solidFill>
                <a:latin typeface="Microsoft JhengHei"/>
              </a:rPr>
              <a:t>04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438912"/>
            <a:ext cx="109728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800" b="1">
                <a:solidFill>
                  <a:srgbClr val="FFFFFF"/>
                </a:solidFill>
                <a:latin typeface="Microsoft JhengHei"/>
              </a:rPr>
              <a:t>從對標學到什麼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446520"/>
            <a:ext cx="5486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900" b="0">
                <a:solidFill>
                  <a:srgbClr val="5A5A52"/>
                </a:solidFill>
                <a:latin typeface="Microsoft JhengHei"/>
              </a:rPr>
              <a:t>頤安本草 · 伍厚臻中醫師 ｜ 網站重建方案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01200" y="6446520"/>
            <a:ext cx="21031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20000"/>
              </a:lnSpc>
            </a:pPr>
            <a:r>
              <a:rPr sz="900" b="0">
                <a:solidFill>
                  <a:srgbClr val="5A5A52"/>
                </a:solidFill>
                <a:latin typeface="Microsoft JhengHei"/>
              </a:rPr>
              <a:t>2026</a:t>
            </a:r>
          </a:p>
        </p:txBody>
      </p:sp>
      <p:sp>
        <p:nvSpPr>
          <p:cNvPr id="9" name="Rectangle 8"/>
          <p:cNvSpPr/>
          <p:nvPr/>
        </p:nvSpPr>
        <p:spPr>
          <a:xfrm>
            <a:off x="502920" y="1325880"/>
            <a:ext cx="5394960" cy="411480"/>
          </a:xfrm>
          <a:prstGeom prst="rect">
            <a:avLst/>
          </a:prstGeom>
          <a:solidFill>
            <a:srgbClr val="2A46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40080" y="1380744"/>
            <a:ext cx="512064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1">
                <a:solidFill>
                  <a:srgbClr val="FFFFFF"/>
                </a:solidFill>
                <a:latin typeface="Microsoft JhengHei"/>
              </a:rPr>
              <a:t>✓  借鑑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02920" y="1737360"/>
            <a:ext cx="5394960" cy="34747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40080" y="1874520"/>
            <a:ext cx="5120640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600"/>
              </a:spcAft>
            </a:pPr>
            <a:r>
              <a:rPr sz="1100">
                <a:solidFill>
                  <a:srgbClr val="1A1A18"/>
                </a:solidFill>
                <a:latin typeface="Microsoft JhengHei"/>
              </a:rPr>
              <a:t>以「症狀」作 SEO 入口</a:t>
            </a:r>
          </a:p>
          <a:p>
            <a:pPr>
              <a:lnSpc>
                <a:spcPct val="115000"/>
              </a:lnSpc>
              <a:spcAft>
                <a:spcPts val="600"/>
              </a:spcAft>
            </a:pPr>
            <a:r>
              <a:rPr sz="1100">
                <a:solidFill>
                  <a:srgbClr val="1A1A18"/>
                </a:solidFill>
                <a:latin typeface="Microsoft JhengHei"/>
              </a:rPr>
              <a:t>FAQ 結構化（地點、資歷、收費）</a:t>
            </a:r>
          </a:p>
          <a:p>
            <a:pPr>
              <a:lnSpc>
                <a:spcPct val="115000"/>
              </a:lnSpc>
              <a:spcAft>
                <a:spcPts val="600"/>
              </a:spcAft>
            </a:pPr>
            <a:r>
              <a:rPr sz="1100">
                <a:solidFill>
                  <a:srgbClr val="1A1A18"/>
                </a:solidFill>
                <a:latin typeface="Microsoft JhengHei"/>
              </a:rPr>
              <a:t>WhatsApp 全站一致預約動線</a:t>
            </a:r>
          </a:p>
          <a:p>
            <a:pPr>
              <a:lnSpc>
                <a:spcPct val="115000"/>
              </a:lnSpc>
              <a:spcAft>
                <a:spcPts val="600"/>
              </a:spcAft>
            </a:pPr>
            <a:r>
              <a:rPr sz="1100">
                <a:solidFill>
                  <a:srgbClr val="1A1A18"/>
                </a:solidFill>
                <a:latin typeface="Microsoft JhengHei"/>
              </a:rPr>
              <a:t>Blog 持續內容 + 內部連結</a:t>
            </a:r>
          </a:p>
          <a:p>
            <a:pPr>
              <a:lnSpc>
                <a:spcPct val="115000"/>
              </a:lnSpc>
              <a:spcAft>
                <a:spcPts val="600"/>
              </a:spcAft>
            </a:pPr>
            <a:r>
              <a:rPr sz="1100">
                <a:solidFill>
                  <a:srgbClr val="1A1A18"/>
                </a:solidFill>
                <a:latin typeface="Microsoft JhengHei"/>
              </a:rPr>
              <a:t>首屏展示地點、時間、專科</a:t>
            </a:r>
          </a:p>
          <a:p>
            <a:pPr>
              <a:lnSpc>
                <a:spcPct val="115000"/>
              </a:lnSpc>
              <a:spcAft>
                <a:spcPts val="600"/>
              </a:spcAft>
            </a:pPr>
            <a:r>
              <a:rPr sz="1100">
                <a:solidFill>
                  <a:srgbClr val="1A1A18"/>
                </a:solidFill>
                <a:latin typeface="Microsoft JhengHei"/>
              </a:rPr>
              <a:t>診所實景建立信任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263640" y="1325880"/>
            <a:ext cx="5394960" cy="411480"/>
          </a:xfrm>
          <a:prstGeom prst="rect">
            <a:avLst/>
          </a:prstGeom>
          <a:solidFill>
            <a:srgbClr val="A23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400800" y="1380744"/>
            <a:ext cx="512064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1">
                <a:solidFill>
                  <a:srgbClr val="FFFFFF"/>
                </a:solidFill>
                <a:latin typeface="Microsoft JhengHei"/>
              </a:rPr>
              <a:t>✗  不照搬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263640" y="1737360"/>
            <a:ext cx="5394960" cy="34747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6400800" y="1874520"/>
            <a:ext cx="5120640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600"/>
              </a:spcAft>
            </a:pPr>
            <a:r>
              <a:rPr sz="1100">
                <a:solidFill>
                  <a:srgbClr val="1A1A18"/>
                </a:solidFill>
                <a:latin typeface="Microsoft JhengHei"/>
              </a:rPr>
              <a:t>美容塑形促銷語言（豐胸、減肥）</a:t>
            </a:r>
          </a:p>
          <a:p>
            <a:pPr>
              <a:lnSpc>
                <a:spcPct val="115000"/>
              </a:lnSpc>
              <a:spcAft>
                <a:spcPts val="600"/>
              </a:spcAft>
            </a:pPr>
            <a:r>
              <a:rPr sz="1100">
                <a:solidFill>
                  <a:srgbClr val="1A1A18"/>
                </a:solidFill>
                <a:latin typeface="Microsoft JhengHei"/>
              </a:rPr>
              <a:t>高折扣首診優惠（高端定位不符）</a:t>
            </a:r>
          </a:p>
          <a:p>
            <a:pPr>
              <a:lnSpc>
                <a:spcPct val="115000"/>
              </a:lnSpc>
              <a:spcAft>
                <a:spcPts val="600"/>
              </a:spcAft>
            </a:pPr>
            <a:r>
              <a:rPr sz="1100">
                <a:solidFill>
                  <a:srgbClr val="1A1A18"/>
                </a:solidFill>
                <a:latin typeface="Microsoft JhengHei"/>
              </a:rPr>
              <a:t>efficacy 進取表述（合規風險）</a:t>
            </a:r>
          </a:p>
          <a:p>
            <a:pPr>
              <a:lnSpc>
                <a:spcPct val="115000"/>
              </a:lnSpc>
              <a:spcAft>
                <a:spcPts val="600"/>
              </a:spcAft>
            </a:pPr>
            <a:r>
              <a:rPr sz="1100">
                <a:solidFill>
                  <a:srgbClr val="1A1A18"/>
                </a:solidFill>
                <a:latin typeface="Microsoft JhengHei"/>
              </a:rPr>
              <a:t>資訊過密、視覺擁擠</a:t>
            </a:r>
          </a:p>
          <a:p>
            <a:pPr>
              <a:lnSpc>
                <a:spcPct val="115000"/>
              </a:lnSpc>
              <a:spcAft>
                <a:spcPts val="600"/>
              </a:spcAft>
            </a:pPr>
            <a:r>
              <a:rPr sz="1100">
                <a:solidFill>
                  <a:srgbClr val="1A1A18"/>
                </a:solidFill>
                <a:latin typeface="Microsoft JhengHei"/>
              </a:rPr>
              <a:t>論壇軟文大量佈局</a:t>
            </a:r>
          </a:p>
          <a:p>
            <a:pPr>
              <a:lnSpc>
                <a:spcPct val="115000"/>
              </a:lnSpc>
              <a:spcAft>
                <a:spcPts val="600"/>
              </a:spcAft>
            </a:pPr>
            <a:r>
              <a:rPr sz="1100">
                <a:solidFill>
                  <a:srgbClr val="1A1A18"/>
                </a:solidFill>
                <a:latin typeface="Microsoft JhengHei"/>
              </a:rPr>
              <a:t>與頤安「循本溯源」定位衝突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2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A23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73152"/>
            <a:ext cx="12191695" cy="960120"/>
          </a:xfrm>
          <a:prstGeom prst="rect">
            <a:avLst/>
          </a:prstGeom>
          <a:solidFill>
            <a:srgbClr val="2A46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02920" y="201168"/>
            <a:ext cx="10972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1">
                <a:solidFill>
                  <a:srgbClr val="AE8A47"/>
                </a:solidFill>
                <a:latin typeface="Microsoft JhengHei"/>
              </a:rPr>
              <a:t>05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438912"/>
            <a:ext cx="109728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800" b="1">
                <a:solidFill>
                  <a:srgbClr val="FFFFFF"/>
                </a:solidFill>
                <a:latin typeface="Microsoft JhengHei"/>
              </a:rPr>
              <a:t>新站重建方案摘要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446520"/>
            <a:ext cx="5486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900" b="0">
                <a:solidFill>
                  <a:srgbClr val="5A5A52"/>
                </a:solidFill>
                <a:latin typeface="Microsoft JhengHei"/>
              </a:rPr>
              <a:t>頤安本草 · 伍厚臻中醫師 ｜ 網站重建方案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01200" y="6446520"/>
            <a:ext cx="21031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20000"/>
              </a:lnSpc>
            </a:pPr>
            <a:r>
              <a:rPr sz="900" b="0">
                <a:solidFill>
                  <a:srgbClr val="5A5A52"/>
                </a:solidFill>
                <a:latin typeface="Microsoft JhengHei"/>
              </a:rPr>
              <a:t>2026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1234440"/>
            <a:ext cx="109728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0">
                <a:solidFill>
                  <a:srgbClr val="5A5A52"/>
                </a:solidFill>
                <a:latin typeface="Microsoft JhengHei"/>
              </a:rPr>
              <a:t>技術：HTML5 + dongfang.css 設計系統 + 原生 JS ｜ 定位：中環高端中醫診所 + 可量度預約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" y="1828800"/>
            <a:ext cx="3520440" cy="1874519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502920" y="1828800"/>
            <a:ext cx="3520440" cy="384048"/>
          </a:xfrm>
          <a:prstGeom prst="rect">
            <a:avLst/>
          </a:prstGeom>
          <a:solidFill>
            <a:srgbClr val="2A46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40080" y="1883664"/>
            <a:ext cx="32004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1">
                <a:solidFill>
                  <a:srgbClr val="FFFFFF"/>
                </a:solidFill>
                <a:latin typeface="Microsoft JhengHei"/>
              </a:rPr>
              <a:t>首頁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2331720"/>
            <a:ext cx="3200400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0">
                <a:solidFill>
                  <a:srgbClr val="1A1A18"/>
                </a:solidFill>
                <a:latin typeface="Microsoft JhengHei"/>
              </a:rPr>
              <a:t>Hero · 四專科 · 評價 · 計算器 · 預約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297680" y="1828800"/>
            <a:ext cx="3520440" cy="1874519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4297680" y="1828800"/>
            <a:ext cx="3520440" cy="384048"/>
          </a:xfrm>
          <a:prstGeom prst="rect">
            <a:avLst/>
          </a:prstGeom>
          <a:solidFill>
            <a:srgbClr val="2A46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4434840" y="1883664"/>
            <a:ext cx="32004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1">
                <a:solidFill>
                  <a:srgbClr val="FFFFFF"/>
                </a:solidFill>
                <a:latin typeface="Microsoft JhengHei"/>
              </a:rPr>
              <a:t>診症專科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434840" y="2331720"/>
            <a:ext cx="3200400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0">
                <a:solidFill>
                  <a:srgbClr val="1A1A18"/>
                </a:solidFill>
                <a:latin typeface="Microsoft JhengHei"/>
              </a:rPr>
              <a:t>痛症 · 皮膚 · 婦科 · 內科 + 4 療法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092440" y="1828800"/>
            <a:ext cx="3520440" cy="1874519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8092440" y="1828800"/>
            <a:ext cx="3520440" cy="384048"/>
          </a:xfrm>
          <a:prstGeom prst="rect">
            <a:avLst/>
          </a:prstGeom>
          <a:solidFill>
            <a:srgbClr val="2A46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8229600" y="1883664"/>
            <a:ext cx="32004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1">
                <a:solidFill>
                  <a:srgbClr val="FFFFFF"/>
                </a:solidFill>
                <a:latin typeface="Microsoft JhengHei"/>
              </a:rPr>
              <a:t>症狀專頁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29600" y="2331720"/>
            <a:ext cx="3200400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0">
                <a:solidFill>
                  <a:srgbClr val="1A1A18"/>
                </a:solidFill>
                <a:latin typeface="Microsoft JhengHei"/>
              </a:rPr>
              <a:t>濕疹 · 暗瘡 · 失眠 · 備孕 · 頸痛等 7 頁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02920" y="3977640"/>
            <a:ext cx="3520440" cy="1874519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502920" y="3977640"/>
            <a:ext cx="3520440" cy="384048"/>
          </a:xfrm>
          <a:prstGeom prst="rect">
            <a:avLst/>
          </a:prstGeom>
          <a:solidFill>
            <a:srgbClr val="3D5A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640080" y="4032504"/>
            <a:ext cx="32004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1">
                <a:solidFill>
                  <a:srgbClr val="FFFFFF"/>
                </a:solidFill>
                <a:latin typeface="Microsoft JhengHei"/>
              </a:rPr>
              <a:t>內容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0080" y="4480560"/>
            <a:ext cx="3200400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0">
                <a:solidFill>
                  <a:srgbClr val="1A1A18"/>
                </a:solidFill>
                <a:latin typeface="Microsoft JhengHei"/>
              </a:rPr>
              <a:t>Blog 4 篇 · 最新消息 · FAQ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297680" y="3977640"/>
            <a:ext cx="3520440" cy="1874519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ectangle 26"/>
          <p:cNvSpPr/>
          <p:nvPr/>
        </p:nvSpPr>
        <p:spPr>
          <a:xfrm>
            <a:off x="4297680" y="3977640"/>
            <a:ext cx="3520440" cy="384048"/>
          </a:xfrm>
          <a:prstGeom prst="rect">
            <a:avLst/>
          </a:prstGeom>
          <a:solidFill>
            <a:srgbClr val="3D5A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4434840" y="4032504"/>
            <a:ext cx="32004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1">
                <a:solidFill>
                  <a:srgbClr val="FFFFFF"/>
                </a:solidFill>
                <a:latin typeface="Microsoft JhengHei"/>
              </a:rPr>
              <a:t>信任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434840" y="4480560"/>
            <a:ext cx="3200400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0">
                <a:solidFill>
                  <a:srgbClr val="1A1A18"/>
                </a:solidFill>
                <a:latin typeface="Microsoft JhengHei"/>
              </a:rPr>
              <a:t>醫師 · 診所環境 · 流程收費 · Google 評價</a:t>
            </a:r>
          </a:p>
        </p:txBody>
      </p:sp>
      <p:sp>
        <p:nvSpPr>
          <p:cNvPr id="30" name="Rectangle 29"/>
          <p:cNvSpPr/>
          <p:nvPr/>
        </p:nvSpPr>
        <p:spPr>
          <a:xfrm>
            <a:off x="8092440" y="3977640"/>
            <a:ext cx="3520440" cy="1874519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Rectangle 30"/>
          <p:cNvSpPr/>
          <p:nvPr/>
        </p:nvSpPr>
        <p:spPr>
          <a:xfrm>
            <a:off x="8092440" y="3977640"/>
            <a:ext cx="3520440" cy="384048"/>
          </a:xfrm>
          <a:prstGeom prst="rect">
            <a:avLst/>
          </a:prstGeom>
          <a:solidFill>
            <a:srgbClr val="3D5A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8229600" y="4032504"/>
            <a:ext cx="32004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1">
                <a:solidFill>
                  <a:srgbClr val="FFFFFF"/>
                </a:solidFill>
                <a:latin typeface="Microsoft JhengHei"/>
              </a:rPr>
              <a:t>轉化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229600" y="4480560"/>
            <a:ext cx="3200400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0">
                <a:solidFill>
                  <a:srgbClr val="1A1A18"/>
                </a:solidFill>
                <a:latin typeface="Microsoft JhengHei"/>
              </a:rPr>
              <a:t>2 步 funnel · WhatsApp · sticky CTA · GA4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2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A23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73152"/>
            <a:ext cx="12191695" cy="960120"/>
          </a:xfrm>
          <a:prstGeom prst="rect">
            <a:avLst/>
          </a:prstGeom>
          <a:solidFill>
            <a:srgbClr val="2A46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02920" y="201168"/>
            <a:ext cx="10972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1">
                <a:solidFill>
                  <a:srgbClr val="AE8A47"/>
                </a:solidFill>
                <a:latin typeface="Microsoft JhengHei"/>
              </a:rPr>
              <a:t>05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438912"/>
            <a:ext cx="109728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800" b="1">
                <a:solidFill>
                  <a:srgbClr val="FFFFFF"/>
                </a:solidFill>
                <a:latin typeface="Microsoft JhengHei"/>
              </a:rPr>
              <a:t>品牌定位差異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446520"/>
            <a:ext cx="5486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900" b="0">
                <a:solidFill>
                  <a:srgbClr val="5A5A52"/>
                </a:solidFill>
                <a:latin typeface="Microsoft JhengHei"/>
              </a:rPr>
              <a:t>頤安本草 · 伍厚臻中醫師 ｜ 網站重建方案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01200" y="6446520"/>
            <a:ext cx="21031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20000"/>
              </a:lnSpc>
            </a:pPr>
            <a:r>
              <a:rPr sz="900" b="0">
                <a:solidFill>
                  <a:srgbClr val="5A5A52"/>
                </a:solidFill>
                <a:latin typeface="Microsoft JhengHei"/>
              </a:rPr>
              <a:t>2026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1508760"/>
            <a:ext cx="32004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1">
                <a:solidFill>
                  <a:srgbClr val="2A463C"/>
                </a:solidFill>
                <a:latin typeface="Microsoft JhengHei"/>
              </a:rPr>
              <a:t>維度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931920" y="1508760"/>
            <a:ext cx="38404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1">
                <a:solidFill>
                  <a:srgbClr val="5A5A52"/>
                </a:solidFill>
                <a:latin typeface="Microsoft JhengHei"/>
              </a:rPr>
              <a:t>養康中醫館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955279" y="1508760"/>
            <a:ext cx="38404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1">
                <a:solidFill>
                  <a:srgbClr val="A23A2E"/>
                </a:solidFill>
                <a:latin typeface="Microsoft JhengHei"/>
              </a:rPr>
              <a:t>頤安本草（新站）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02920" y="1920240"/>
            <a:ext cx="11155680" cy="868680"/>
          </a:xfrm>
          <a:prstGeom prst="rect">
            <a:avLst/>
          </a:prstGeom>
          <a:solidFill>
            <a:srgbClr val="F7F2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40080" y="2103120"/>
            <a:ext cx="292608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1">
                <a:solidFill>
                  <a:srgbClr val="2A463C"/>
                </a:solidFill>
                <a:latin typeface="Microsoft JhengHei"/>
              </a:rPr>
              <a:t>視覺風格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931920" y="2103120"/>
            <a:ext cx="36576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0">
                <a:solidFill>
                  <a:srgbClr val="1A1A18"/>
                </a:solidFill>
                <a:latin typeface="Microsoft JhengHei"/>
              </a:rPr>
              <a:t>綠色臨床、促銷感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955279" y="2103120"/>
            <a:ext cx="36576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1">
                <a:solidFill>
                  <a:srgbClr val="2A463C"/>
                </a:solidFill>
                <a:latin typeface="Microsoft JhengHei"/>
              </a:rPr>
              <a:t>paper / pine / cinnabar 東方禪意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02920" y="2788920"/>
            <a:ext cx="11155680" cy="8686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640080" y="2971800"/>
            <a:ext cx="292608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1">
                <a:solidFill>
                  <a:srgbClr val="2A463C"/>
                </a:solidFill>
                <a:latin typeface="Microsoft JhengHei"/>
              </a:rPr>
              <a:t>目標受眾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931920" y="2971800"/>
            <a:ext cx="36576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0">
                <a:solidFill>
                  <a:srgbClr val="1A1A18"/>
                </a:solidFill>
                <a:latin typeface="Microsoft JhengHei"/>
              </a:rPr>
              <a:t>尖沙咀、美容減肥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955279" y="2971800"/>
            <a:ext cx="36576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1">
                <a:solidFill>
                  <a:srgbClr val="2A463C"/>
                </a:solidFill>
                <a:latin typeface="Microsoft JhengHei"/>
              </a:rPr>
              <a:t>中環上班族、高端全科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02920" y="3657600"/>
            <a:ext cx="11155680" cy="868680"/>
          </a:xfrm>
          <a:prstGeom prst="rect">
            <a:avLst/>
          </a:prstGeom>
          <a:solidFill>
            <a:srgbClr val="F7F2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640080" y="3840480"/>
            <a:ext cx="292608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1">
                <a:solidFill>
                  <a:srgbClr val="2A463C"/>
                </a:solidFill>
                <a:latin typeface="Microsoft JhengHei"/>
              </a:rPr>
              <a:t>語氣調性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931920" y="3840480"/>
            <a:ext cx="36576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0">
                <a:solidFill>
                  <a:srgbClr val="1A1A18"/>
                </a:solidFill>
                <a:latin typeface="Microsoft JhengHei"/>
              </a:rPr>
              <a:t>促銷、療效導向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955279" y="3840480"/>
            <a:ext cx="36576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1">
                <a:solidFill>
                  <a:srgbClr val="2A463C"/>
                </a:solidFill>
                <a:latin typeface="Microsoft JhengHei"/>
              </a:rPr>
              <a:t>循本溯源、合規克制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02920" y="4526280"/>
            <a:ext cx="11155680" cy="8686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640080" y="4709160"/>
            <a:ext cx="292608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1">
                <a:solidFill>
                  <a:srgbClr val="2A463C"/>
                </a:solidFill>
                <a:latin typeface="Microsoft JhengHei"/>
              </a:rPr>
              <a:t>品牌識別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931920" y="4709160"/>
            <a:ext cx="36576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0">
                <a:solidFill>
                  <a:srgbClr val="1A1A18"/>
                </a:solidFill>
                <a:latin typeface="Microsoft JhengHei"/>
              </a:rPr>
              <a:t>養康中醫館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955279" y="4709160"/>
            <a:ext cx="36576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1">
                <a:solidFill>
                  <a:srgbClr val="2A463C"/>
                </a:solidFill>
                <a:latin typeface="Microsoft JhengHei"/>
              </a:rPr>
              <a:t>頤安本草 · 伍厚臻中醫師</a:t>
            </a:r>
          </a:p>
        </p:txBody>
      </p:sp>
      <p:sp>
        <p:nvSpPr>
          <p:cNvPr id="28" name="Rectangle 27"/>
          <p:cNvSpPr/>
          <p:nvPr/>
        </p:nvSpPr>
        <p:spPr>
          <a:xfrm>
            <a:off x="502920" y="5303520"/>
            <a:ext cx="11155680" cy="914400"/>
          </a:xfrm>
          <a:prstGeom prst="rect">
            <a:avLst/>
          </a:prstGeom>
          <a:solidFill>
            <a:srgbClr val="2A46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685800" y="5440680"/>
            <a:ext cx="10789920" cy="685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0">
                <a:solidFill>
                  <a:srgbClr val="F7F2E7"/>
                </a:solidFill>
                <a:latin typeface="Microsoft JhengHei"/>
              </a:rPr>
              <a:t>核心差異：養康以「流量 + 轉化」為先；頤安以「信任 + 合規 + 高端體驗」為先。兩者資訊架構可借鑑，品牌調性刻意區隔。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2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A23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73152"/>
            <a:ext cx="12191695" cy="960120"/>
          </a:xfrm>
          <a:prstGeom prst="rect">
            <a:avLst/>
          </a:prstGeom>
          <a:solidFill>
            <a:srgbClr val="2A46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02920" y="201168"/>
            <a:ext cx="10972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1">
                <a:solidFill>
                  <a:srgbClr val="AE8A47"/>
                </a:solidFill>
                <a:latin typeface="Microsoft JhengHei"/>
              </a:rPr>
              <a:t>06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438912"/>
            <a:ext cx="109728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800" b="1">
                <a:solidFill>
                  <a:srgbClr val="FFFFFF"/>
                </a:solidFill>
                <a:latin typeface="Microsoft JhengHei"/>
              </a:rPr>
              <a:t>新站 vs 舊站：具體改善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446520"/>
            <a:ext cx="5486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900" b="0">
                <a:solidFill>
                  <a:srgbClr val="5A5A52"/>
                </a:solidFill>
                <a:latin typeface="Microsoft JhengHei"/>
              </a:rPr>
              <a:t>頤安本草 · 伍厚臻中醫師 ｜ 網站重建方案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01200" y="6446520"/>
            <a:ext cx="21031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20000"/>
              </a:lnSpc>
            </a:pPr>
            <a:r>
              <a:rPr sz="900" b="0">
                <a:solidFill>
                  <a:srgbClr val="5A5A52"/>
                </a:solidFill>
                <a:latin typeface="Microsoft JhengHei"/>
              </a:rPr>
              <a:t>2026</a:t>
            </a:r>
          </a:p>
        </p:txBody>
      </p:sp>
      <p:sp>
        <p:nvSpPr>
          <p:cNvPr id="9" name="Rectangle 8"/>
          <p:cNvSpPr/>
          <p:nvPr/>
        </p:nvSpPr>
        <p:spPr>
          <a:xfrm>
            <a:off x="502920" y="1371600"/>
            <a:ext cx="5440680" cy="10515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40080" y="1444752"/>
            <a:ext cx="51206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1">
                <a:solidFill>
                  <a:srgbClr val="AE8A47"/>
                </a:solidFill>
                <a:latin typeface="Microsoft JhengHei"/>
              </a:rPr>
              <a:t>頁面規模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1719072"/>
            <a:ext cx="2286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0">
                <a:solidFill>
                  <a:srgbClr val="5A5A52"/>
                </a:solidFill>
                <a:latin typeface="Microsoft JhengHei"/>
              </a:rPr>
              <a:t>舊：1 頁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063240" y="1719072"/>
            <a:ext cx="27432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1">
                <a:solidFill>
                  <a:srgbClr val="2A463C"/>
                </a:solidFill>
                <a:latin typeface="Microsoft JhengHei"/>
              </a:rPr>
              <a:t>新：30 頁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263640" y="1371600"/>
            <a:ext cx="5440680" cy="10515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400800" y="1444752"/>
            <a:ext cx="51206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1">
                <a:solidFill>
                  <a:srgbClr val="AE8A47"/>
                </a:solidFill>
                <a:latin typeface="Microsoft JhengHei"/>
              </a:rPr>
              <a:t>SEO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0" y="1719072"/>
            <a:ext cx="2286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0">
                <a:solidFill>
                  <a:srgbClr val="5A5A52"/>
                </a:solidFill>
                <a:latin typeface="Microsoft JhengHei"/>
              </a:rPr>
              <a:t>舊：基本 title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823960" y="1719072"/>
            <a:ext cx="27432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1">
                <a:solidFill>
                  <a:srgbClr val="2A463C"/>
                </a:solidFill>
                <a:latin typeface="Microsoft JhengHei"/>
              </a:rPr>
              <a:t>新：sitemap + JSON-LD + OG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02920" y="2606040"/>
            <a:ext cx="5440680" cy="10515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640080" y="2679192"/>
            <a:ext cx="51206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1">
                <a:solidFill>
                  <a:srgbClr val="AE8A47"/>
                </a:solidFill>
                <a:latin typeface="Microsoft JhengHei"/>
              </a:rPr>
              <a:t>預約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" y="2953512"/>
            <a:ext cx="2286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0">
                <a:solidFill>
                  <a:srgbClr val="5A5A52"/>
                </a:solidFill>
                <a:latin typeface="Microsoft JhengHei"/>
              </a:rPr>
              <a:t>舊：WhatsApp 連結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063240" y="2953512"/>
            <a:ext cx="27432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1">
                <a:solidFill>
                  <a:srgbClr val="2A463C"/>
                </a:solidFill>
                <a:latin typeface="Microsoft JhengHei"/>
              </a:rPr>
              <a:t>新：2 步 funnel + 計算器預填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263640" y="2606040"/>
            <a:ext cx="5440680" cy="10515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6400800" y="2679192"/>
            <a:ext cx="51206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1">
                <a:solidFill>
                  <a:srgbClr val="AE8A47"/>
                </a:solidFill>
                <a:latin typeface="Microsoft JhengHei"/>
              </a:rPr>
              <a:t>收費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00800" y="2953512"/>
            <a:ext cx="2286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0">
                <a:solidFill>
                  <a:srgbClr val="5A5A52"/>
                </a:solidFill>
                <a:latin typeface="Microsoft JhengHei"/>
              </a:rPr>
              <a:t>舊：未展示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823960" y="2953512"/>
            <a:ext cx="27432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1">
                <a:solidFill>
                  <a:srgbClr val="2A463C"/>
                </a:solidFill>
                <a:latin typeface="Microsoft JhengHei"/>
              </a:rPr>
              <a:t>新：明碼價目 + 即時估算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02920" y="3840480"/>
            <a:ext cx="5440680" cy="10515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640080" y="3913632"/>
            <a:ext cx="51206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1">
                <a:solidFill>
                  <a:srgbClr val="AE8A47"/>
                </a:solidFill>
                <a:latin typeface="Microsoft JhengHei"/>
              </a:rPr>
              <a:t>評價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40080" y="4187952"/>
            <a:ext cx="2286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0">
                <a:solidFill>
                  <a:srgbClr val="5A5A52"/>
                </a:solidFill>
                <a:latin typeface="Microsoft JhengHei"/>
              </a:rPr>
              <a:t>舊：無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063240" y="4187952"/>
            <a:ext cx="27432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1">
                <a:solidFill>
                  <a:srgbClr val="2A463C"/>
                </a:solidFill>
                <a:latin typeface="Microsoft JhengHei"/>
              </a:rPr>
              <a:t>新：Google 5.0 + Schema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263640" y="3840480"/>
            <a:ext cx="5440680" cy="10515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6400800" y="3913632"/>
            <a:ext cx="51206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1">
                <a:solidFill>
                  <a:srgbClr val="AE8A47"/>
                </a:solidFill>
                <a:latin typeface="Microsoft JhengHei"/>
              </a:rPr>
              <a:t>量度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400800" y="4187952"/>
            <a:ext cx="2286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0">
                <a:solidFill>
                  <a:srgbClr val="5A5A52"/>
                </a:solidFill>
                <a:latin typeface="Microsoft JhengHei"/>
              </a:rPr>
              <a:t>舊：無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823960" y="4187952"/>
            <a:ext cx="27432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1">
                <a:solidFill>
                  <a:srgbClr val="2A463C"/>
                </a:solidFill>
                <a:latin typeface="Microsoft JhengHei"/>
              </a:rPr>
              <a:t>新：GA4 dataLayer 事件</a:t>
            </a:r>
          </a:p>
        </p:txBody>
      </p:sp>
      <p:sp>
        <p:nvSpPr>
          <p:cNvPr id="33" name="Rectangle 32"/>
          <p:cNvSpPr/>
          <p:nvPr/>
        </p:nvSpPr>
        <p:spPr>
          <a:xfrm>
            <a:off x="502920" y="5074920"/>
            <a:ext cx="5440680" cy="10515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640080" y="5148072"/>
            <a:ext cx="51206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1">
                <a:solidFill>
                  <a:srgbClr val="AE8A47"/>
                </a:solidFill>
                <a:latin typeface="Microsoft JhengHei"/>
              </a:rPr>
              <a:t>品牌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40080" y="5422392"/>
            <a:ext cx="2286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0">
                <a:solidFill>
                  <a:srgbClr val="5A5A52"/>
                </a:solidFill>
                <a:latin typeface="Microsoft JhengHei"/>
              </a:rPr>
              <a:t>舊：個人名義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3063240" y="5422392"/>
            <a:ext cx="27432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1">
                <a:solidFill>
                  <a:srgbClr val="2A463C"/>
                </a:solidFill>
                <a:latin typeface="Microsoft JhengHei"/>
              </a:rPr>
              <a:t>新：頤安本草品牌系統</a:t>
            </a:r>
          </a:p>
        </p:txBody>
      </p:sp>
      <p:sp>
        <p:nvSpPr>
          <p:cNvPr id="37" name="Rectangle 36"/>
          <p:cNvSpPr/>
          <p:nvPr/>
        </p:nvSpPr>
        <p:spPr>
          <a:xfrm>
            <a:off x="6263640" y="5074920"/>
            <a:ext cx="5440680" cy="10515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6400800" y="5148072"/>
            <a:ext cx="51206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1">
                <a:solidFill>
                  <a:srgbClr val="AE8A47"/>
                </a:solidFill>
                <a:latin typeface="Microsoft JhengHei"/>
              </a:rPr>
              <a:t>合規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400800" y="5422392"/>
            <a:ext cx="2286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0">
                <a:solidFill>
                  <a:srgbClr val="5A5A52"/>
                </a:solidFill>
                <a:latin typeface="Microsoft JhengHei"/>
              </a:rPr>
              <a:t>舊：有效能承諾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823960" y="5422392"/>
            <a:ext cx="27432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1">
                <a:solidFill>
                  <a:srgbClr val="2A463C"/>
                </a:solidFill>
                <a:latin typeface="Microsoft JhengHei"/>
              </a:rPr>
              <a:t>新：設計指南禁止誇大表述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2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A23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73152"/>
            <a:ext cx="12191695" cy="960120"/>
          </a:xfrm>
          <a:prstGeom prst="rect">
            <a:avLst/>
          </a:prstGeom>
          <a:solidFill>
            <a:srgbClr val="2A46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02920" y="201168"/>
            <a:ext cx="10972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1">
                <a:solidFill>
                  <a:srgbClr val="AE8A47"/>
                </a:solidFill>
                <a:latin typeface="Microsoft JhengHei"/>
              </a:rPr>
              <a:t>07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438912"/>
            <a:ext cx="109728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800" b="1">
                <a:solidFill>
                  <a:srgbClr val="FFFFFF"/>
                </a:solidFill>
                <a:latin typeface="Microsoft JhengHei"/>
              </a:rPr>
              <a:t>行銷策略建議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868680"/>
            <a:ext cx="10972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0">
                <a:solidFill>
                  <a:srgbClr val="E8E0D0"/>
                </a:solidFill>
                <a:latin typeface="Microsoft JhengHei"/>
              </a:rPr>
              <a:t>參考養康模式，適配頤安定位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446520"/>
            <a:ext cx="5486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900" b="0">
                <a:solidFill>
                  <a:srgbClr val="5A5A52"/>
                </a:solidFill>
                <a:latin typeface="Microsoft JhengHei"/>
              </a:rPr>
              <a:t>頤安本草 · 伍厚臻中醫師 ｜ 網站重建方案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200" y="6446520"/>
            <a:ext cx="21031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20000"/>
              </a:lnSpc>
            </a:pPr>
            <a:r>
              <a:rPr sz="900" b="0">
                <a:solidFill>
                  <a:srgbClr val="5A5A52"/>
                </a:solidFill>
                <a:latin typeface="Microsoft JhengHei"/>
              </a:rPr>
              <a:t>2026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" y="1325880"/>
            <a:ext cx="5394960" cy="47548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85800" y="1463040"/>
            <a:ext cx="50292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600" b="1">
                <a:solidFill>
                  <a:srgbClr val="2A463C"/>
                </a:solidFill>
                <a:latin typeface="Microsoft JhengHei"/>
              </a:rPr>
              <a:t>建議採納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5800" y="1874519"/>
            <a:ext cx="50292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600"/>
              </a:spcAft>
            </a:pPr>
            <a:r>
              <a:rPr sz="1200">
                <a:solidFill>
                  <a:srgbClr val="1A1A18"/>
                </a:solidFill>
                <a:latin typeface="Microsoft JhengHei"/>
              </a:rPr>
              <a:t>Google Business Profile 優化（中環定位）</a:t>
            </a:r>
          </a:p>
          <a:p>
            <a:pPr>
              <a:lnSpc>
                <a:spcPct val="115000"/>
              </a:lnSpc>
              <a:spcAft>
                <a:spcPts val="600"/>
              </a:spcAft>
            </a:pPr>
            <a:r>
              <a:rPr sz="1200">
                <a:solidFill>
                  <a:srgbClr val="1A1A18"/>
                </a:solidFill>
                <a:latin typeface="Microsoft JhengHei"/>
              </a:rPr>
              <a:t>WhatsApp 統一轉化 + CTA 追蹤</a:t>
            </a:r>
          </a:p>
          <a:p>
            <a:pPr>
              <a:lnSpc>
                <a:spcPct val="115000"/>
              </a:lnSpc>
              <a:spcAft>
                <a:spcPts val="600"/>
              </a:spcAft>
            </a:pPr>
            <a:r>
              <a:rPr sz="1200">
                <a:solidFill>
                  <a:srgbClr val="1A1A18"/>
                </a:solidFill>
                <a:latin typeface="Microsoft JhengHei"/>
              </a:rPr>
              <a:t>FAQ + 症狀頁持續補充</a:t>
            </a:r>
          </a:p>
          <a:p>
            <a:pPr>
              <a:lnSpc>
                <a:spcPct val="115000"/>
              </a:lnSpc>
              <a:spcAft>
                <a:spcPts val="600"/>
              </a:spcAft>
            </a:pPr>
            <a:r>
              <a:rPr sz="1200">
                <a:solidFill>
                  <a:srgbClr val="1A1A18"/>
                </a:solidFill>
                <a:latin typeface="Microsoft JhengHei"/>
              </a:rPr>
              <a:t>Blog 每月 1–2 篇（濕疹、暗瘡、失眠、備孕）</a:t>
            </a:r>
          </a:p>
          <a:p>
            <a:pPr>
              <a:lnSpc>
                <a:spcPct val="115000"/>
              </a:lnSpc>
              <a:spcAft>
                <a:spcPts val="600"/>
              </a:spcAft>
            </a:pPr>
            <a:r>
              <a:rPr sz="1200">
                <a:solidFill>
                  <a:srgbClr val="1A1A18"/>
                </a:solidFill>
                <a:latin typeface="Microsoft JhengHei"/>
              </a:rPr>
              <a:t>IG @oakville.wellness 與官網互導</a:t>
            </a:r>
          </a:p>
          <a:p>
            <a:pPr>
              <a:lnSpc>
                <a:spcPct val="115000"/>
              </a:lnSpc>
              <a:spcAft>
                <a:spcPts val="600"/>
              </a:spcAft>
            </a:pPr>
            <a:r>
              <a:rPr sz="1200">
                <a:solidFill>
                  <a:srgbClr val="1A1A18"/>
                </a:solidFill>
                <a:latin typeface="Microsoft JhengHei"/>
              </a:rPr>
              <a:t>月度服務 HKD 10,000／月（策劃 + 維護）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263640" y="1325880"/>
            <a:ext cx="5394960" cy="47548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446520" y="1463040"/>
            <a:ext cx="50292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600" b="1">
                <a:solidFill>
                  <a:srgbClr val="A23A2E"/>
                </a:solidFill>
                <a:latin typeface="Microsoft JhengHei"/>
              </a:rPr>
              <a:t>KOL 素人化（若採用）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46520" y="1874519"/>
            <a:ext cx="50292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600"/>
              </a:spcAft>
            </a:pPr>
            <a:r>
              <a:rPr sz="1200">
                <a:solidFill>
                  <a:srgbClr val="1A1A18"/>
                </a:solidFill>
                <a:latin typeface="Microsoft JhengHei"/>
              </a:rPr>
              <a:t>選垂直 KOL：中環上班族／皮膚／備孕</a:t>
            </a:r>
          </a:p>
          <a:p>
            <a:pPr>
              <a:lnSpc>
                <a:spcPct val="115000"/>
              </a:lnSpc>
              <a:spcAft>
                <a:spcPts val="600"/>
              </a:spcAft>
            </a:pPr>
            <a:r>
              <a:rPr sz="1200">
                <a:solidFill>
                  <a:srgbClr val="1A1A18"/>
                </a:solidFill>
                <a:latin typeface="Microsoft JhengHei"/>
              </a:rPr>
              <a:t>內容聚焦診症體驗、醫師解說、診所環境</a:t>
            </a:r>
          </a:p>
          <a:p>
            <a:pPr>
              <a:lnSpc>
                <a:spcPct val="115000"/>
              </a:lnSpc>
              <a:spcAft>
                <a:spcPts val="600"/>
              </a:spcAft>
            </a:pPr>
            <a:r>
              <a:rPr sz="1200">
                <a:solidFill>
                  <a:srgbClr val="1A1A18"/>
                </a:solidFill>
                <a:latin typeface="Microsoft JhengHei"/>
              </a:rPr>
              <a:t>避免疗效承诺，標明贊助／廣告</a:t>
            </a:r>
          </a:p>
          <a:p>
            <a:pPr>
              <a:lnSpc>
                <a:spcPct val="115000"/>
              </a:lnSpc>
              <a:spcAft>
                <a:spcPts val="600"/>
              </a:spcAft>
            </a:pPr>
            <a:r>
              <a:rPr sz="1200">
                <a:solidFill>
                  <a:srgbClr val="1A1A18"/>
                </a:solidFill>
                <a:latin typeface="Microsoft JhengHei"/>
              </a:rPr>
              <a:t>官網只展示已授權內容</a:t>
            </a:r>
          </a:p>
          <a:p>
            <a:pPr>
              <a:lnSpc>
                <a:spcPct val="115000"/>
              </a:lnSpc>
              <a:spcAft>
                <a:spcPts val="600"/>
              </a:spcAft>
            </a:pPr>
            <a:r>
              <a:rPr sz="1200">
                <a:solidFill>
                  <a:srgbClr val="1A1A18"/>
                </a:solidFill>
                <a:latin typeface="Microsoft JhengHei"/>
              </a:rPr>
              <a:t>與 Google 真實評價分開呈現</a:t>
            </a:r>
          </a:p>
          <a:p>
            <a:pPr>
              <a:lnSpc>
                <a:spcPct val="115000"/>
              </a:lnSpc>
              <a:spcAft>
                <a:spcPts val="600"/>
              </a:spcAft>
            </a:pPr>
            <a:r>
              <a:rPr sz="1200">
                <a:solidFill>
                  <a:srgbClr val="1A1A18"/>
                </a:solidFill>
                <a:latin typeface="Microsoft JhengHei"/>
              </a:rPr>
              <a:t>不建議：免診金促銷、論壇軟文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2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A23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73152"/>
            <a:ext cx="12191695" cy="960120"/>
          </a:xfrm>
          <a:prstGeom prst="rect">
            <a:avLst/>
          </a:prstGeom>
          <a:solidFill>
            <a:srgbClr val="2A46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02920" y="201168"/>
            <a:ext cx="10972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1">
                <a:solidFill>
                  <a:srgbClr val="AE8A47"/>
                </a:solidFill>
                <a:latin typeface="Microsoft JhengHei"/>
              </a:rPr>
              <a:t>08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438912"/>
            <a:ext cx="109728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800" b="1">
                <a:solidFill>
                  <a:srgbClr val="FFFFFF"/>
                </a:solidFill>
                <a:latin typeface="Microsoft JhengHei"/>
              </a:rPr>
              <a:t>交付路線圖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446520"/>
            <a:ext cx="5486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900" b="0">
                <a:solidFill>
                  <a:srgbClr val="5A5A52"/>
                </a:solidFill>
                <a:latin typeface="Microsoft JhengHei"/>
              </a:rPr>
              <a:t>頤安本草 · 伍厚臻中醫師 ｜ 網站重建方案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01200" y="6446520"/>
            <a:ext cx="21031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20000"/>
              </a:lnSpc>
            </a:pPr>
            <a:r>
              <a:rPr sz="900" b="0">
                <a:solidFill>
                  <a:srgbClr val="5A5A52"/>
                </a:solidFill>
                <a:latin typeface="Microsoft JhengHei"/>
              </a:rPr>
              <a:t>2026</a:t>
            </a:r>
          </a:p>
        </p:txBody>
      </p:sp>
      <p:sp>
        <p:nvSpPr>
          <p:cNvPr id="9" name="Rectangle 8"/>
          <p:cNvSpPr/>
          <p:nvPr/>
        </p:nvSpPr>
        <p:spPr>
          <a:xfrm>
            <a:off x="502920" y="2011680"/>
            <a:ext cx="2606040" cy="32004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502920" y="2011680"/>
            <a:ext cx="2606040" cy="502920"/>
          </a:xfrm>
          <a:prstGeom prst="rect">
            <a:avLst/>
          </a:prstGeom>
          <a:solidFill>
            <a:srgbClr val="2A46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40080" y="2084831"/>
            <a:ext cx="23317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1">
                <a:solidFill>
                  <a:srgbClr val="FFFFFF"/>
                </a:solidFill>
                <a:latin typeface="Microsoft JhengHei"/>
              </a:rPr>
              <a:t>第一階段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2697480"/>
            <a:ext cx="2331720" cy="1645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0">
                <a:solidFill>
                  <a:srgbClr val="1A1A18"/>
                </a:solidFill>
                <a:latin typeface="Microsoft JhengHei"/>
              </a:rPr>
              <a:t>30 頁網站 · SEO · 預約 funnel · GA4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4480560"/>
            <a:ext cx="23317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1">
                <a:solidFill>
                  <a:srgbClr val="2A463C"/>
                </a:solidFill>
                <a:latin typeface="Microsoft JhengHei"/>
              </a:rPr>
              <a:t>✓ 已開發</a:t>
            </a:r>
          </a:p>
        </p:txBody>
      </p:sp>
      <p:sp>
        <p:nvSpPr>
          <p:cNvPr id="14" name="Right Arrow 13"/>
          <p:cNvSpPr/>
          <p:nvPr/>
        </p:nvSpPr>
        <p:spPr>
          <a:xfrm>
            <a:off x="3154680" y="3291840"/>
            <a:ext cx="320040" cy="228600"/>
          </a:xfrm>
          <a:prstGeom prst="rightArrow">
            <a:avLst/>
          </a:prstGeom>
          <a:solidFill>
            <a:srgbClr val="AE8A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3383280" y="2011680"/>
            <a:ext cx="2606040" cy="32004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3383280" y="2011680"/>
            <a:ext cx="2606040" cy="502920"/>
          </a:xfrm>
          <a:prstGeom prst="rect">
            <a:avLst/>
          </a:prstGeom>
          <a:solidFill>
            <a:srgbClr val="AE8A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3520440" y="2084831"/>
            <a:ext cx="23317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1">
                <a:solidFill>
                  <a:srgbClr val="FFFFFF"/>
                </a:solidFill>
                <a:latin typeface="Microsoft JhengHei"/>
              </a:rPr>
              <a:t>第二階段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520440" y="2697480"/>
            <a:ext cx="2331720" cy="1645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0">
                <a:solidFill>
                  <a:srgbClr val="1A1A18"/>
                </a:solidFill>
                <a:latin typeface="Microsoft JhengHei"/>
              </a:rPr>
              <a:t>50 張品牌視覺資產 · 全站接入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520440" y="4480560"/>
            <a:ext cx="23317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1">
                <a:solidFill>
                  <a:srgbClr val="AE8A47"/>
                </a:solidFill>
                <a:latin typeface="Microsoft JhengHei"/>
              </a:rPr>
              <a:t>規劃完成</a:t>
            </a:r>
          </a:p>
        </p:txBody>
      </p:sp>
      <p:sp>
        <p:nvSpPr>
          <p:cNvPr id="20" name="Right Arrow 19"/>
          <p:cNvSpPr/>
          <p:nvPr/>
        </p:nvSpPr>
        <p:spPr>
          <a:xfrm>
            <a:off x="6035040" y="3291840"/>
            <a:ext cx="320040" cy="228600"/>
          </a:xfrm>
          <a:prstGeom prst="rightArrow">
            <a:avLst/>
          </a:prstGeom>
          <a:solidFill>
            <a:srgbClr val="AE8A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6263640" y="2011680"/>
            <a:ext cx="2606040" cy="32004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6263640" y="2011680"/>
            <a:ext cx="2606040" cy="502920"/>
          </a:xfrm>
          <a:prstGeom prst="rect">
            <a:avLst/>
          </a:prstGeom>
          <a:solidFill>
            <a:srgbClr val="5A5A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6400800" y="2084831"/>
            <a:ext cx="23317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1">
                <a:solidFill>
                  <a:srgbClr val="FFFFFF"/>
                </a:solidFill>
                <a:latin typeface="Microsoft JhengHei"/>
              </a:rPr>
              <a:t>第三階段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00800" y="2697480"/>
            <a:ext cx="2331720" cy="1645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0">
                <a:solidFill>
                  <a:srgbClr val="1A1A18"/>
                </a:solidFill>
                <a:latin typeface="Microsoft JhengHei"/>
              </a:rPr>
              <a:t>Production 上線 oakvilles.com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00800" y="4480560"/>
            <a:ext cx="23317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1">
                <a:solidFill>
                  <a:srgbClr val="5A5A52"/>
                </a:solidFill>
                <a:latin typeface="Microsoft JhengHei"/>
              </a:rPr>
              <a:t>待部署</a:t>
            </a:r>
          </a:p>
        </p:txBody>
      </p:sp>
      <p:sp>
        <p:nvSpPr>
          <p:cNvPr id="26" name="Right Arrow 25"/>
          <p:cNvSpPr/>
          <p:nvPr/>
        </p:nvSpPr>
        <p:spPr>
          <a:xfrm>
            <a:off x="8915400" y="3291840"/>
            <a:ext cx="320040" cy="228600"/>
          </a:xfrm>
          <a:prstGeom prst="rightArrow">
            <a:avLst/>
          </a:prstGeom>
          <a:solidFill>
            <a:srgbClr val="AE8A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ectangle 26"/>
          <p:cNvSpPr/>
          <p:nvPr/>
        </p:nvSpPr>
        <p:spPr>
          <a:xfrm>
            <a:off x="9144000" y="2011680"/>
            <a:ext cx="2606040" cy="32004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Rectangle 27"/>
          <p:cNvSpPr/>
          <p:nvPr/>
        </p:nvSpPr>
        <p:spPr>
          <a:xfrm>
            <a:off x="9144000" y="2011680"/>
            <a:ext cx="2606040" cy="502920"/>
          </a:xfrm>
          <a:prstGeom prst="rect">
            <a:avLst/>
          </a:prstGeom>
          <a:solidFill>
            <a:srgbClr val="A23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9281160" y="2084831"/>
            <a:ext cx="23317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1">
                <a:solidFill>
                  <a:srgbClr val="FFFFFF"/>
                </a:solidFill>
                <a:latin typeface="Microsoft JhengHei"/>
              </a:rPr>
              <a:t>持續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281160" y="2697480"/>
            <a:ext cx="2331720" cy="1645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0">
                <a:solidFill>
                  <a:srgbClr val="1A1A18"/>
                </a:solidFill>
                <a:latin typeface="Microsoft JhengHei"/>
              </a:rPr>
              <a:t>月度行銷策劃 + 網站維護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281160" y="4480560"/>
            <a:ext cx="23317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1">
                <a:solidFill>
                  <a:srgbClr val="A23A2E"/>
                </a:solidFill>
                <a:latin typeface="Microsoft JhengHei"/>
              </a:rPr>
              <a:t>HKD 10,000／月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A46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A23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822960" y="1371600"/>
            <a:ext cx="100584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0">
                <a:solidFill>
                  <a:srgbClr val="AE8A47"/>
                </a:solidFill>
                <a:latin typeface="Microsoft JhengHei"/>
              </a:rPr>
              <a:t>結論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920240"/>
            <a:ext cx="10515600" cy="1804725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000" b="0" dirty="0" err="1">
                <a:solidFill>
                  <a:srgbClr val="FFFFFF"/>
                </a:solidFill>
                <a:latin typeface="Microsoft JhengHei"/>
              </a:rPr>
              <a:t>養康的優勢在於「內容厚度</a:t>
            </a:r>
            <a:r>
              <a:rPr sz="2000" b="0" dirty="0">
                <a:solidFill>
                  <a:srgbClr val="FFFFFF"/>
                </a:solidFill>
                <a:latin typeface="Microsoft JhengHei"/>
              </a:rPr>
              <a:t> + WhatsApp </a:t>
            </a:r>
            <a:r>
              <a:rPr sz="2000" b="0" dirty="0" err="1">
                <a:solidFill>
                  <a:srgbClr val="FFFFFF"/>
                </a:solidFill>
                <a:latin typeface="Microsoft JhengHei"/>
              </a:rPr>
              <a:t>轉化</a:t>
            </a:r>
            <a:r>
              <a:rPr sz="2000" b="0" dirty="0">
                <a:solidFill>
                  <a:srgbClr val="FFFFFF"/>
                </a:solidFill>
                <a:latin typeface="Microsoft JhengHei"/>
              </a:rPr>
              <a:t> + </a:t>
            </a:r>
            <a:r>
              <a:rPr sz="2000" b="0" dirty="0" err="1">
                <a:solidFill>
                  <a:srgbClr val="FFFFFF"/>
                </a:solidFill>
                <a:latin typeface="Microsoft JhengHei"/>
              </a:rPr>
              <a:t>社交種草</a:t>
            </a:r>
            <a:r>
              <a:rPr sz="2000" b="0" dirty="0">
                <a:solidFill>
                  <a:srgbClr val="FFFFFF"/>
                </a:solidFill>
                <a:latin typeface="Microsoft JhengHei"/>
              </a:rPr>
              <a:t>」；</a:t>
            </a:r>
            <a:r>
              <a:rPr sz="2000" b="0" dirty="0" err="1">
                <a:solidFill>
                  <a:srgbClr val="FFFFFF"/>
                </a:solidFill>
                <a:latin typeface="Microsoft JhengHei"/>
              </a:rPr>
              <a:t>現行</a:t>
            </a:r>
            <a:r>
              <a:rPr sz="2000" b="0" dirty="0">
                <a:solidFill>
                  <a:srgbClr val="FFFFFF"/>
                </a:solidFill>
                <a:latin typeface="Microsoft JhengHei"/>
              </a:rPr>
              <a:t> oakvilles.com </a:t>
            </a:r>
            <a:r>
              <a:rPr sz="2000" b="0" dirty="0" err="1">
                <a:solidFill>
                  <a:srgbClr val="FFFFFF"/>
                </a:solidFill>
                <a:latin typeface="Microsoft JhengHei"/>
              </a:rPr>
              <a:t>內容與技術基礎不足，未能承接搜尋流量</a:t>
            </a:r>
            <a:r>
              <a:rPr sz="2000" b="0" dirty="0">
                <a:solidFill>
                  <a:srgbClr val="FFFFFF"/>
                </a:solidFill>
                <a:latin typeface="Microsoft JhengHei"/>
              </a:rPr>
              <a:t>。</a:t>
            </a:r>
            <a:br>
              <a:rPr dirty="0"/>
            </a:br>
            <a:br>
              <a:rPr dirty="0"/>
            </a:br>
            <a:r>
              <a:rPr dirty="0" err="1">
                <a:solidFill>
                  <a:schemeClr val="accent6">
                    <a:lumMod val="60000"/>
                    <a:lumOff val="40000"/>
                  </a:schemeClr>
                </a:solidFill>
              </a:rPr>
              <a:t>新站已在資訊架構、SEO、轉化量度及品牌視覺上系統性補足差距，並保持中環高端、合規、專業之定位</a:t>
            </a:r>
            <a:r>
              <a:rPr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。</a:t>
            </a:r>
          </a:p>
        </p:txBody>
      </p:sp>
      <p:sp>
        <p:nvSpPr>
          <p:cNvPr id="6" name="Rectangle 5"/>
          <p:cNvSpPr/>
          <p:nvPr/>
        </p:nvSpPr>
        <p:spPr>
          <a:xfrm>
            <a:off x="822960" y="4572000"/>
            <a:ext cx="10515600" cy="1463040"/>
          </a:xfrm>
          <a:prstGeom prst="rect">
            <a:avLst/>
          </a:prstGeom>
          <a:solidFill>
            <a:srgbClr val="3D5A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005840" y="4709160"/>
            <a:ext cx="100584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1">
                <a:solidFill>
                  <a:srgbClr val="AE8A47"/>
                </a:solidFill>
                <a:latin typeface="Microsoft JhengHei"/>
              </a:rPr>
              <a:t>建議下一步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507492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600"/>
              </a:spcAft>
            </a:pPr>
            <a:r>
              <a:rPr sz="1300">
                <a:solidFill>
                  <a:srgbClr val="F7F2E7"/>
                </a:solidFill>
                <a:latin typeface="Microsoft JhengHei"/>
              </a:rPr>
              <a:t>完成 50 張視覺資產製作及全站接入</a:t>
            </a:r>
          </a:p>
          <a:p>
            <a:pPr>
              <a:lnSpc>
                <a:spcPct val="115000"/>
              </a:lnSpc>
              <a:spcAft>
                <a:spcPts val="600"/>
              </a:spcAft>
            </a:pPr>
            <a:r>
              <a:rPr sz="1300">
                <a:solidFill>
                  <a:srgbClr val="F7F2E7"/>
                </a:solidFill>
                <a:latin typeface="Microsoft JhengHei"/>
              </a:rPr>
              <a:t>正式部署 oakvilles.com</a:t>
            </a:r>
          </a:p>
          <a:p>
            <a:pPr>
              <a:lnSpc>
                <a:spcPct val="115000"/>
              </a:lnSpc>
              <a:spcAft>
                <a:spcPts val="600"/>
              </a:spcAft>
            </a:pPr>
            <a:r>
              <a:rPr sz="1300">
                <a:solidFill>
                  <a:srgbClr val="F7F2E7"/>
                </a:solidFill>
                <a:latin typeface="Microsoft JhengHei"/>
              </a:rPr>
              <a:t>啟動月度行銷維護合約（SEO + 內容 + GA4 月報）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</TotalTime>
  <Words>790</Words>
  <Application>Microsoft Office PowerPoint</Application>
  <PresentationFormat>寬螢幕</PresentationFormat>
  <Paragraphs>215</Paragraphs>
  <Slides>12</Slides>
  <Notes>0</Notes>
  <HiddenSlides>0</HiddenSlides>
  <MMClips>0</MMClips>
  <ScaleCrop>false</ScaleCrop>
  <HeadingPairs>
    <vt:vector size="6" baseType="variant">
      <vt:variant>
        <vt:lpstr>使用字型</vt:lpstr>
      </vt:variant>
      <vt:variant>
        <vt:i4>3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12</vt:i4>
      </vt:variant>
    </vt:vector>
  </HeadingPairs>
  <TitlesOfParts>
    <vt:vector size="16" baseType="lpstr">
      <vt:lpstr>Microsoft JhengHei</vt:lpstr>
      <vt:lpstr>Arial</vt:lpstr>
      <vt:lpstr>Calibri</vt:lpstr>
      <vt:lpstr>Office Theme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L Steriod</cp:lastModifiedBy>
  <cp:revision>2</cp:revision>
  <dcterms:created xsi:type="dcterms:W3CDTF">2013-01-27T09:14:16Z</dcterms:created>
  <dcterms:modified xsi:type="dcterms:W3CDTF">2026-06-20T07:51:10Z</dcterms:modified>
  <cp:category/>
</cp:coreProperties>
</file>