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8A47"/>
                </a:solidFill>
                <a:latin typeface="Microsoft JhengHei"/>
              </a:rPr>
              <a:t>OAKVILLE WELLNESS · STRATEGY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9601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頤安本草官網重建</a:t>
            </a:r>
            <a:br/>
            <a:r>
              <a:t>多維度比較總結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2E7"/>
                </a:solidFill>
                <a:latin typeface="Microsoft JhengHei"/>
              </a:rPr>
              <a:t>整合《Oakville-Website-Proposal》方案書與簡報內容，對照 2026 年 6 月已部署新站之實際狀態。三方對比：養康（標竿）｜舊站｜新站（現況）。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164592" cy="164592"/>
          </a:xfrm>
          <a:prstGeom prst="rect">
            <a:avLst/>
          </a:prstGeom>
          <a:solidFill>
            <a:srgbClr val="6B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養康中醫館（對標）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069080"/>
            <a:ext cx="164592" cy="164592"/>
          </a:xfrm>
          <a:prstGeom prst="rect">
            <a:avLst/>
          </a:prstGeom>
          <a:solidFill>
            <a:srgbClr val="9A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舊站 oakvilles.com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069080"/>
            <a:ext cx="164592" cy="16459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新站（已上線）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2026 年 06 月 ｜ oakvilles.vercel.app ｜ WhatsApp 6734 9532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一句話結論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8"/>
                </a:solidFill>
                <a:latin typeface="Microsoft JhengHei"/>
              </a:rPr>
              <a:t>借鑑養康的「內容厚度 + WhatsApp 轉化」，補足舊站 SEO／信任／量度缺口；新站以中環高端、合規克制定位與其促銷密集型策略區隔。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1→62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頁面規模（含雙語）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0→6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可追蹤轉化事件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症狀 SEO 著陸頁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Google 評價展示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核心維度對照表（上）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8E0D0"/>
                </a:solidFill>
                <a:latin typeface="Microsoft JhengHei"/>
              </a:rPr>
              <a:t>養康 honscmc.com ｜ 舊站 ｜ 新站（現況）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234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298448"/>
            <a:ext cx="1143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261872"/>
            <a:ext cx="30632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12984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261872"/>
            <a:ext cx="29260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298448"/>
            <a:ext cx="2834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261872"/>
            <a:ext cx="3520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1298448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新站（現況）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1636776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591056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92224" y="1636776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尖沙咀·皮膚/美容·促銷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591056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1636776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個人醫師·訊息分散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80" y="1591056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81544" y="1636776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中環高端·頤安本草·合規克制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49424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295144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頁面規模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249424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2224" y="2295144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WP 多頁·四層 nav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249424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5464" y="2295144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實質 1 頁·nav 5 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80" y="2249424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2295144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62 頁（中+英）·已部署 Vercel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07792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2953512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SEO 入口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907792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92224" y="2953512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每症狀一頁·地區+症狀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907792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2953512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無症狀頁·無 sitemap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2907792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1544" y="2953512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7 症狀+central-hk·Schema·OG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566160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" y="3611880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轉化動線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3566160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92224" y="3611880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Joinchat·首診優惠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3566160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55464" y="3611880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僅 WA 浮窗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3566160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81544" y="3611880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2 步 funnel·計算器·sticky CTA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核心維度對照表（下）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234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143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261872"/>
            <a:ext cx="30632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12984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261872"/>
            <a:ext cx="29260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298448"/>
            <a:ext cx="2834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261872"/>
            <a:ext cx="3520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1544" y="1298448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新站（現況）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1636776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信任元件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591056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1636776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13年·8000診量·FAQ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591056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636776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缺評價·環境·FAQ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80" y="1591056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1636776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Google 5.0·gallery·明碼價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249424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2295144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視覺風格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2249424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92224" y="2295144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綠色臨床·密度高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249424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2295144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通用 SPA·Hero 輪播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2249424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1544" y="2295144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paper/pine 禪意·Mobile-first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907792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2953512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量度能力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2907792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92224" y="2953512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（未公開 GA）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907792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2953512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 GA4·無 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80" y="2907792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1544" y="2953512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 事件就緒·GA4 待填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66160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3611880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合規風險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3566160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92224" y="3611880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efficacy 較進取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3566160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3611880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數週見效·文案筆誤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3566160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81544" y="3611880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禁止誇大·評價免責·低風險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從對標「借鑑 vs 不照搬」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3611880" cy="365760"/>
          </a:xfrm>
          <a:prstGeom prst="rect">
            <a:avLst/>
          </a:prstGeom>
          <a:solidFill>
            <a:srgbClr val="6B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07592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✓ 借鑑養康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342900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以「症狀」而非抽象科別作 SEO 入口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FAQ 結構化（地點、資歷、收費、預約）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WhatsApp 全站一致預約動線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Blog 持續內容 + 內部連結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首屏展示地點、時間、專科範圍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61872"/>
            <a:ext cx="3611880" cy="36576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07592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✗ 不照搬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27632"/>
            <a:ext cx="3611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719072"/>
            <a:ext cx="342900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美容塑形促銷語（豐胸、減肥主入口）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首診免診金等高折扣（高端定位不符）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efficacy 進取表述 · 論壇軟文大量佈局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資訊過密、視覺擁擠的臨床促銷感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261872"/>
            <a:ext cx="356616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0759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頤安差異化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627632"/>
            <a:ext cx="356616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719072"/>
            <a:ext cx="33832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養康：流量 + 轉化優先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頤安：信任 + 合規 + 高端體驗優先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架構可借鑑，品牌調性刻意區隔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舊站 → 新站：12 項改善（上）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4173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類別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261872"/>
            <a:ext cx="4754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5104" y="1298448"/>
            <a:ext cx="4663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6187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9984" y="129844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91056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163677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頁面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591056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5104" y="163677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1 頁為主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9105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163677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62 頁（含 /en/ 雙語）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57984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203704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品牌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57984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75104" y="22037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伍厚臻個人名義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157984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4" y="2203704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頤安本草 + 印章識別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24912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770632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SEO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724912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5104" y="2770632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基本 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72491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2770632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sitemap·JSON-LD·canonical·OG 1200×630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3337560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本地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3291840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5104" y="3337560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無中環專頁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91840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337560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about/central-hk · GEO · llms.txt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58768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" y="3904488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預約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58768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75104" y="3904488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WA 連結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85876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904488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2 步 funnel + sessionStorage 串接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25696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447141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收費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4425696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75104" y="447141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未展示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425696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9984" y="447141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明碼價 + 即時計算器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舊站 → 新站：12 項改善（下）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4173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類別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261872"/>
            <a:ext cx="4754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5104" y="1298448"/>
            <a:ext cx="4663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6187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9984" y="129844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91056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163677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評價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591056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5104" y="163677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9105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163677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Google 5.0 + Review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57984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203704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量度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57984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75104" y="22037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157984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4" y="2203704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 等 6 事件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24912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770632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內容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724912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5104" y="2770632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2 專科卡片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72491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2770632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4 專科 + 7 症狀 + Blog + FAQ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3337560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合規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3291840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5104" y="3337560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有效能承諾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91840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337560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禁止誇大表述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58768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" y="3904488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手機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58768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75104" y="3904488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基本 RWD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85876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904488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sticky CTA · WA 浮動避障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25696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447141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部署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4425696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75104" y="447141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舊 hosting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425696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9984" y="447141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GitHub → Vercel 自動部署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行銷與廣告策略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8E0D0"/>
                </a:solidFill>
                <a:latin typeface="Microsoft JhengHei"/>
              </a:rPr>
              <a:t>提案 + 現站就緒度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325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298448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261872"/>
            <a:ext cx="26060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1298448"/>
            <a:ext cx="2514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養康做法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261872"/>
            <a:ext cx="32461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298448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頤安建議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261872"/>
            <a:ext cx="35661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5824" y="1298448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新站準備度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1056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1636776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SEO 長尾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591056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3664" y="1636776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症狀+地區著陸頁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591056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636776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持續補 FAQ／症狀頁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591056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1636776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7 頁已上線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066544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2112264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WhatsApp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066544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2112264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24h · Joinchat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066544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2112264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統一 WA + 全站追蹤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066544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2112264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funnel 已就緒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542032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2587752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Google 本地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542032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83664" y="258775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542032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9704" y="2587752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GBP 優化 + 評價邀請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542032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35824" y="2587752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待執行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017520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" y="3063240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Meta 廣告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83664" y="306324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療程銷售頁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3017520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9704" y="3063240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症狀頁著陸·Pixel 追蹤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017520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3063240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Pixel 待接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49300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3538728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Google Ads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3493008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83664" y="3538728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493008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9704" y="3538728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品牌+症狀+中環 Search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493008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35824" y="3538728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GA4 ID 待填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68496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" y="4014216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IG 種草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968496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83664" y="4014216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KOL 素人化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4840" y="3968496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9704" y="4014216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@oakville.wellness 非硬銷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968496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35824" y="4014216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官網互導已接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443984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7784" y="4489704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首診優惠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4443984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83664" y="4489704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皮膚科免診金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34840" y="4443984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9704" y="4489704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不建議（高端定位）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4443984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35824" y="4489704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4919472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" y="4965192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內容節奏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919472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83664" y="496519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Blog 持續更新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4840" y="4919472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9704" y="4965192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每月 1–2 篇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0960" y="4919472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35824" y="4965192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4 篇已上線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廣告著陸頁對應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8E0D0"/>
                </a:solidFill>
                <a:latin typeface="Microsoft JhengHei"/>
              </a:rPr>
              <a:t>Meta / Google 共用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0116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53896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廣告主題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417320"/>
            <a:ext cx="59436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1453896"/>
            <a:ext cx="5852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建議著陸頁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417320"/>
            <a:ext cx="32918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453896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主要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46504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9222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濕疹 / 暗瘡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1746504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9464" y="179222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/conditions/eczema.html · /conditions/acne.html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746504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179222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68296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414016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備孕 / 婦科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368296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9464" y="2414016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/conditions/fertility.html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368296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4" y="2414016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90088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3035808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頸痛 / 痛症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990088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303580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/conditions/neck-pain.html · /services/pain.html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990088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4" y="303580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11880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6576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中環中醫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3611880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9464" y="3657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/about/central-hk.html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611880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3657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cta_click · booking_submit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233672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279392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外籍客群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4233672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4279392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/en/ · /en/services/skin.html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4233672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13064" y="427939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55464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490118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品牌詞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4855464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9464" y="490118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 · /about.html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855464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3064" y="490118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cta_click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交付路線圖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8E0D0"/>
                </a:solidFill>
                <a:latin typeface="Microsoft JhengHei"/>
              </a:rPr>
              <a:t>提案 vs 2026.06 現況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38988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階段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353312"/>
            <a:ext cx="4663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13898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提案內容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35331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138988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2026.06 現況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82496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28216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第一階段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682496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6544" y="1728216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30 頁 · SEO · funnel · GA4 就緒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682496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1728216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✓ 已完成並超越（62 頁雙語）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40864"/>
            <a:ext cx="1508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386584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第二階段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2340864"/>
            <a:ext cx="4663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6544" y="2386584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50 張品牌視覺資產全站接入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40864"/>
            <a:ext cx="4937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2386584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規劃完成 · 部分已接入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99232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3044952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第三階段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999232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66544" y="3044952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Production 上線 oakvilles.com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999232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044952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✓ 已部署 Vercel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57600"/>
            <a:ext cx="1508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703320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持續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3657600"/>
            <a:ext cx="4663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66544" y="3703320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月度行銷 HKD 10,000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657600"/>
            <a:ext cx="4937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9984" y="3703320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可選 · 待啟動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315968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361688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廣告開跑前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4315968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66544" y="4361688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315968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4" y="4361688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GA4·GTM·Pixel·Search Console·GBP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建議下一步（優先序）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P0 · 本週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填入 SITE_GA4_ID 並部署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Search Console + sitemap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Google Business Profile 優化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oakvilles.com DNS 指向 Vercel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520440" cy="365760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P1 · 廣告前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GTM：GA4 + Meta Pixel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GA4 轉化 → Google Ads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Meta 自訂轉換 whatsapp_click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98448"/>
            <a:ext cx="3520440" cy="36576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P2 · 持續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症狀 campaign + 著陸 A/B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Blog 每月 1–2 篇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品牌視覺資產批次接入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8A47"/>
                </a:solidFill>
                <a:latin typeface="Microsoft JhengHei"/>
              </a:rPr>
              <a:t>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0D0"/>
                </a:solidFill>
                <a:latin typeface="Microsoft JhengHei"/>
              </a:rPr>
              <a:t>Oakville-Website-Proposal.docx · Oakville-Website-Proposal.pptx（2026-06-20）</a:t>
            </a:r>
            <a:br/>
            <a:r>
              <a:t>新站 repo 部署紀錄 · 對標 honscmc.com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10515600" cy="21488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E8A47"/>
                </a:solidFill>
                <a:latin typeface="Microsoft JhengHei"/>
              </a:rPr>
              <a:t>頤安本草 · 伍厚臻中醫師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10058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2E7"/>
                </a:solidFill>
                <a:latin typeface="Microsoft JhengHei"/>
              </a:rPr>
              <a:t>oakvilles.vercel.app ｜ WhatsApp +852 6734 9532 ｜ 電話 2881 8182</a:t>
            </a:r>
            <a:br/>
            <a:r>
              <a:t>中環皇后大道中 99 號錦安大廈 6 樓 602 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