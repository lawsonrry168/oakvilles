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AE8A47"/>
                </a:solidFill>
                <a:latin typeface="Microsoft JhengHei"/>
              </a:rPr>
              <a:t>OAKVILLE WELLNESS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FFFFFF"/>
                </a:solidFill>
                <a:latin typeface="Microsoft JhengHei"/>
              </a:rPr>
              <a:t>頤安本草官網 · 前後比較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7F2E7"/>
                </a:solidFill>
                <a:latin typeface="Microsoft JhengHei"/>
              </a:rPr>
              <a:t>舊站 → 新站重建 → 最新上線版本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0D0"/>
                </a:solidFill>
                <a:latin typeface="Microsoft JhengHei"/>
              </a:rPr>
              <a:t>客戶交付精簡版 ｜ 2026 年 06 月 ｜ WhatsApp 6734 9532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一句話結論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官網重建前後比較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1A18"/>
                </a:solidFill>
                <a:latin typeface="Microsoft JhengHei"/>
              </a:rPr>
              <a:t>舊站為單頁結構，無法承接「症狀搜尋」與轉介流量。新站以 62 頁雙語架構補足 SEO、信任與 WhatsApp 轉化，並保持中環高端、合規克制的品牌定位。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26060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54864" cy="132588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350008"/>
            <a:ext cx="23500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2A463C"/>
                </a:solidFill>
                <a:latin typeface="Microsoft JhengHei"/>
              </a:rPr>
              <a:t>1→62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953512"/>
            <a:ext cx="2350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頁面（含雙語）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240280"/>
            <a:ext cx="26060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2240280"/>
            <a:ext cx="54864" cy="132588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2350008"/>
            <a:ext cx="23500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2A463C"/>
                </a:solidFill>
                <a:latin typeface="Microsoft JhengHe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953512"/>
            <a:ext cx="2350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症狀 SEO 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240280"/>
            <a:ext cx="26060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2240280"/>
            <a:ext cx="54864" cy="132588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2350008"/>
            <a:ext cx="23500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2A463C"/>
                </a:solidFill>
                <a:latin typeface="Microsoft JhengHei"/>
              </a:rPr>
              <a:t>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953512"/>
            <a:ext cx="2350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Google 評價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2240280"/>
            <a:ext cx="26060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2240280"/>
            <a:ext cx="54864" cy="132588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7112" y="2350008"/>
            <a:ext cx="235000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2A463C"/>
                </a:solidFill>
                <a:latin typeface="Microsoft JhengHe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7112" y="2953512"/>
            <a:ext cx="2350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Vercel 已上線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840480"/>
            <a:ext cx="111556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77639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A463C"/>
                </a:solidFill>
                <a:latin typeface="Microsoft JhengHei"/>
              </a:rPr>
              <a:t>本簡報涵蓋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315968"/>
            <a:ext cx="10515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舊站與新站核心差距（一表看清）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重建後 8 大改善與最新一輪潤飾重點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現已上線內容、網址與建議下一步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舊站 vs 新站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0D0"/>
                </a:solidFill>
                <a:latin typeface="Microsoft JhengHei"/>
              </a:rPr>
              <a:t>重建前 oakvilles.com ｜ 現版 oakvilles.vercel.app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官網重建前後比較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261872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A9088"/>
                </a:solidFill>
                <a:latin typeface="Microsoft JhengHei"/>
              </a:rPr>
              <a:t>舊站（重建前）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261872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463C"/>
                </a:solidFill>
                <a:latin typeface="Microsoft JhengHei"/>
              </a:rPr>
              <a:t>新站（現版）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72768"/>
            <a:ext cx="1325880" cy="658368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700784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頁面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1572768"/>
            <a:ext cx="4800600" cy="658368"/>
          </a:xfrm>
          <a:prstGeom prst="rect">
            <a:avLst/>
          </a:prstGeom>
          <a:solidFill>
            <a:srgbClr val="F0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1664208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實質 1 頁 · 導航 5 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572768"/>
            <a:ext cx="4937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1572768"/>
            <a:ext cx="45720" cy="658368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664208"/>
            <a:ext cx="4709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62 頁中+英 · 30+ 核心內容頁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286000"/>
            <a:ext cx="1325880" cy="658368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414016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品牌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19" y="2286000"/>
            <a:ext cx="4800600" cy="658368"/>
          </a:xfrm>
          <a:prstGeom prst="rect">
            <a:avLst/>
          </a:prstGeom>
          <a:solidFill>
            <a:srgbClr val="F0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2377440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伍厚臻個人 · 訊息分散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2286000"/>
            <a:ext cx="4937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20840" y="2286000"/>
            <a:ext cx="45720" cy="658368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377440"/>
            <a:ext cx="4709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頤安本草 · 印章識別 · 禪意視覺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999232"/>
            <a:ext cx="1325880" cy="658368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127248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SEO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19" y="2999232"/>
            <a:ext cx="4800600" cy="658368"/>
          </a:xfrm>
          <a:prstGeom prst="rect">
            <a:avLst/>
          </a:prstGeom>
          <a:solidFill>
            <a:srgbClr val="F0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3090672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無 sitemap／Schema／症狀頁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2999232"/>
            <a:ext cx="4937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20840" y="2999232"/>
            <a:ext cx="45720" cy="658368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3090672"/>
            <a:ext cx="4709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8 症狀頁 + sitemap + JSON-LD + OG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712464"/>
            <a:ext cx="1325880" cy="658368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84048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轉化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74519" y="3712464"/>
            <a:ext cx="4800600" cy="658368"/>
          </a:xfrm>
          <a:prstGeom prst="rect">
            <a:avLst/>
          </a:prstGeom>
          <a:solidFill>
            <a:srgbClr val="F0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5960" y="3803904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僅 WA 浮窗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3712464"/>
            <a:ext cx="4937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20840" y="3712464"/>
            <a:ext cx="45720" cy="658368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3803904"/>
            <a:ext cx="4709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2 步預約 funnel · 計算器 · sticky CTA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425696"/>
            <a:ext cx="1325880" cy="658368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4553712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信任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4519" y="4425696"/>
            <a:ext cx="4800600" cy="658368"/>
          </a:xfrm>
          <a:prstGeom prst="rect">
            <a:avLst/>
          </a:prstGeom>
          <a:solidFill>
            <a:srgbClr val="F0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65960" y="4517136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缺評價、環境圖、FAQ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20840" y="4425696"/>
            <a:ext cx="4937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720840" y="4425696"/>
            <a:ext cx="45720" cy="658368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4517136"/>
            <a:ext cx="4709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Google 5.0 · 診所實景 · 明碼收費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138928"/>
            <a:ext cx="1325880" cy="658368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5266944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量度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5138928"/>
            <a:ext cx="4800600" cy="658368"/>
          </a:xfrm>
          <a:prstGeom prst="rect">
            <a:avLst/>
          </a:prstGeom>
          <a:solidFill>
            <a:srgbClr val="F0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65960" y="5230368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無 GA4／CTA 追蹤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5138928"/>
            <a:ext cx="4937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20840" y="5138928"/>
            <a:ext cx="45720" cy="658368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0" y="5230368"/>
            <a:ext cx="4709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6 個轉化事件就緒（待填 GA4）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852160"/>
            <a:ext cx="1325880" cy="658368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5980176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合規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74519" y="5852160"/>
            <a:ext cx="4800600" cy="658368"/>
          </a:xfrm>
          <a:prstGeom prst="rect">
            <a:avLst/>
          </a:prstGeom>
          <a:solidFill>
            <a:srgbClr val="F0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65960" y="5943600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部分療效承諾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20840" y="5852160"/>
            <a:ext cx="4937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720840" y="5852160"/>
            <a:ext cx="45720" cy="658368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0" y="5943600"/>
            <a:ext cx="4709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合規克制 · 評價免責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新站 8 大改善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官網重建前後比較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26974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2697480" cy="347472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0817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資訊架構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792224"/>
            <a:ext cx="24688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8"/>
                </a:solidFill>
                <a:latin typeface="Microsoft JhengHei"/>
              </a:rPr>
              <a:t>1 頁 → 62 頁雙語，覆蓋專科、症狀、Blog、FAQ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353312"/>
            <a:ext cx="26974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353312"/>
            <a:ext cx="2697480" cy="347472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140817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本地 SEO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1792224"/>
            <a:ext cx="24688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8"/>
                </a:solidFill>
                <a:latin typeface="Microsoft JhengHei"/>
              </a:rPr>
              <a:t>新增中環專頁 central-hk · llms.txt · hreflang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353312"/>
            <a:ext cx="26974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353312"/>
            <a:ext cx="2697480" cy="347472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40817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預約動線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1792224"/>
            <a:ext cx="24688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8"/>
                </a:solidFill>
                <a:latin typeface="Microsoft JhengHei"/>
              </a:rPr>
              <a:t>2 步 funnel 自動組 WhatsApp 訊息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353312"/>
            <a:ext cx="26974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353312"/>
            <a:ext cx="2697480" cy="347472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140817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收費透明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1792224"/>
            <a:ext cx="24688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8"/>
                </a:solidFill>
                <a:latin typeface="Microsoft JhengHei"/>
              </a:rPr>
              <a:t>流程收費頁 + 診金即時計算器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867912"/>
            <a:ext cx="26974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867912"/>
            <a:ext cx="2697480" cy="347472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92277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社交分享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306824"/>
            <a:ext cx="24688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8"/>
                </a:solidFill>
                <a:latin typeface="Microsoft JhengHei"/>
              </a:rPr>
              <a:t>每頁 OG 1200×630 · 品牌首頁分享圖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867912"/>
            <a:ext cx="26974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80" y="3867912"/>
            <a:ext cx="2697480" cy="347472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93008" y="392277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搜尋技術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4306824"/>
            <a:ext cx="24688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8"/>
                </a:solidFill>
                <a:latin typeface="Microsoft JhengHei"/>
              </a:rPr>
              <a:t>sitemap · canonical · 結構化資料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867912"/>
            <a:ext cx="26974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867912"/>
            <a:ext cx="2697480" cy="347472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392277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手機體驗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4306824"/>
            <a:ext cx="24688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8"/>
                </a:solidFill>
                <a:latin typeface="Microsoft JhengHei"/>
              </a:rPr>
              <a:t>sticky CTA · WA 浮動避障 · Mobile-first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867912"/>
            <a:ext cx="26974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3867912"/>
            <a:ext cx="2697480" cy="347472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53728" y="392277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部署維護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728" y="4306824"/>
            <a:ext cx="24688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1A18"/>
                </a:solidFill>
                <a:latin typeface="Microsoft JhengHei"/>
              </a:rPr>
              <a:t>GitHub + Vercel 一鍵建置上線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最新一輪潤飾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0D0"/>
                </a:solidFill>
                <a:latin typeface="Microsoft JhengHei"/>
              </a:rPr>
              <a:t>2026 年 6 月 · 已同步 GitHub 與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官網重建前後比較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5394960" cy="384048"/>
          </a:xfrm>
          <a:prstGeom prst="rect">
            <a:avLst/>
          </a:prstGeom>
          <a:solidFill>
            <a:srgbClr val="9A9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53312"/>
            <a:ext cx="51755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早前版本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82496"/>
            <a:ext cx="5394960" cy="3977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792224"/>
            <a:ext cx="5175504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WhatsApp 連結格式不統一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部分 meta 描述過短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OG 圖僅首頁為主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英文 Hero 浮水印位置不穩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印章為純文字四格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sitemap priority 固定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98448"/>
            <a:ext cx="5394960" cy="384048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353312"/>
            <a:ext cx="51755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現版（已完成）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682496"/>
            <a:ext cx="5394960" cy="3977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792224"/>
            <a:ext cx="5175504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全站統一 wa.me + 預約問候語模板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全站 description 110–165 字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default／blog／process 專用 OG 圖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Heal 浮水印佈局修正 + 品牌字體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PNG 印章 + 5 枚主題圖章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lastmod 日期 + 分頁 priority 邏輯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440680"/>
            <a:ext cx="11155680" cy="777240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5595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7F2E7"/>
                </a:solidFill>
                <a:latin typeface="Microsoft JhengHei"/>
              </a:rPr>
              <a:t>新增著陸頁：中環暗瘡濕疹中醫（中英）｜ 新聞頁 Article schema ｜ 首頁無障礙 main  landmark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現已上線內容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官網重建前後比較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3520440" cy="3657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9903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雙語官網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2880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中文主站 + 完整 /en/ 英文鏡像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53312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53312"/>
            <a:ext cx="3520440" cy="3657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39903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症狀 SEO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82880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濕疹·暗瘡·失眠·備孕·頸痛·坐骨 + 中環綜合頁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353312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53312"/>
            <a:ext cx="3520440" cy="3657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39903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專科療法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182880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痛症·皮膚·婦科·內科 + 針灸·中藥·艾灸·拔罐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02152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502152"/>
            <a:ext cx="3520440" cy="3657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54787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內容信任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39776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Blog 4 篇 · FAQ · 醫師簡介 · Google 5.0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502152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502152"/>
            <a:ext cx="3520440" cy="3657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354787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轉化工具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39776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WhatsApp 6734 9532 · 2 步預約 · 診金計算器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3502152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3502152"/>
            <a:ext cx="3520440" cy="3657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8" y="354787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技術基礎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39776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sitemap · Schema · OG · dataLayer 事件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部署與網址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官網重建前後比較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53949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463C"/>
                </a:solidFill>
                <a:latin typeface="Microsoft JhengHei"/>
              </a:rPr>
              <a:t>✓  新站（最新版）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網址：oakvilles.vercel.app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GitHub main 已同步（ea6db4e）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Vercel Production 建置成功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64 頁靜態輸出 · 自動 build:deploy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98448"/>
            <a:ext cx="53949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98448"/>
            <a:ext cx="54864" cy="201168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1732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23A2E"/>
                </a:solidFill>
                <a:latin typeface="Microsoft JhengHei"/>
              </a:rPr>
              <a:t>⚠  自訂網域（待接）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83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oakvilles.com 目前仍指向舊 hosting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需將 DNS 改指向 Vercel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完成後訪客自動看到新站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建議本週內完成切換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0440"/>
            <a:ext cx="11155680" cy="24231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AE8A47"/>
                </a:solidFill>
                <a:latin typeface="Microsoft JhengHei"/>
              </a:rPr>
              <a:t>共同轉化 KPI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69080"/>
            <a:ext cx="105156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7F2E7"/>
                </a:solidFill>
                <a:latin typeface="Microsoft JhengHei"/>
              </a:rPr>
              <a:t>所有預約入口統一導向 WhatsApp +852 6734 9532，並附標準問候語「您好，我想預約伍醫師診症」。網站已預留 whatsapp_click 等 6 個追蹤事件，填入 GA4 後即可量度各入口成效。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建議下一步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官網重建前後比較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35204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3520440" cy="384048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89888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P0 · 本週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74519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oakvilles.com DNS 指向 Vercel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填入 GA4 並重新部署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Search Console 提交 sitemap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Google Business Profile 優化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25880"/>
            <a:ext cx="35204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3520440" cy="384048"/>
          </a:xfrm>
          <a:prstGeom prst="rect">
            <a:avLst/>
          </a:prstGeom>
          <a:solidFill>
            <a:srgbClr val="AE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389888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P1 · 廣告前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874519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GTM：GA4 + Meta Pixel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GA4 轉化匯入 Google Ads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Meta 自訂轉換 whatsapp_click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325880"/>
            <a:ext cx="35204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25880"/>
            <a:ext cx="3520440" cy="384048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389888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P2 · 持續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1874519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Blog 每月 1–2 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品牌視覺資產全站接入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症狀廣告著陸頁 A/B 測試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AE8A47"/>
                </a:solidFill>
                <a:latin typeface="Microsoft JhengHei"/>
              </a:rPr>
              <a:t>總結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Microsoft JhengHei"/>
              </a:rPr>
              <a:t>舊站無法承接搜尋與轉介流量；新站已在架構、SEO、信任元件與 WhatsApp 轉化上系統補足，並完成最新一輪全站潤飾與上線部署。</a:t>
            </a:r>
            <a:br/>
            <a:br/>
            <a:r>
              <a:t>下一步重點：自訂網域切換 + GA4 啟用 + 本地 SEO。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526280"/>
            <a:ext cx="10515600" cy="1417320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681728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E8A47"/>
                </a:solidFill>
                <a:latin typeface="Microsoft JhengHei"/>
              </a:rPr>
              <a:t>聯絡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029200"/>
            <a:ext cx="10058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7F2E7"/>
                </a:solidFill>
                <a:latin typeface="Microsoft JhengHei"/>
              </a:rPr>
              <a:t>頤安本草 · 伍厚臻中醫師 ｜ 中環皇后大道中 99 號錦安大廈 6 樓 602 室</a:t>
            </a:r>
            <a:br/>
            <a:r>
              <a:t>WhatsApp +852 6734 9532 ｜ 電話 2881 8182 ｜ oakvilles.vercel.app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