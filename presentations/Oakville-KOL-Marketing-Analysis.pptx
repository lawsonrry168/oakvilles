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E8A47"/>
                </a:solidFill>
                <a:latin typeface="Microsoft JhengHei"/>
              </a:rPr>
              <a:t>KOL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JhengHei"/>
              </a:rPr>
              <a:t>養康 KOL 行銷分析</a:t>
            </a:r>
            <a:br/>
            <a:r>
              <a:t>同級別預算參考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2E7"/>
                </a:solidFill>
                <a:latin typeface="Microsoft JhengHei"/>
              </a:rPr>
              <a:t>頤安本草對標研究　｜　2026 年 6 月</a:t>
            </a:r>
            <a:br/>
            <a:r>
              <a:t>資料：Instagram @hons_cmc 合作案例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E8A47"/>
                </a:solidFill>
                <a:latin typeface="Microsoft Jheng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養康 KOL 策略概覽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7F2E7"/>
                </a:solidFill>
                <a:latin typeface="Microsoft JhengHei"/>
              </a:rPr>
              <a:t>體驗式種草 · 症狀故事 · @hons_cmc 導流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頤安本草 · KOL 行銷分析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34747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A463C"/>
                </a:solidFill>
                <a:latin typeface="Microsoft JhengHe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2"/>
                </a:solidFill>
                <a:latin typeface="Microsoft JhengHei"/>
              </a:rPr>
              <a:t>已整理合作 KOL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298448"/>
            <a:ext cx="34747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417320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A23A2E"/>
                </a:solidFill>
                <a:latin typeface="Microsoft Jheng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9659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2"/>
                </a:solidFill>
                <a:latin typeface="Microsoft JhengHei"/>
              </a:rPr>
              <a:t>層級（微→大型）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1298448"/>
            <a:ext cx="38404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417320"/>
            <a:ext cx="3474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A463C"/>
                </a:solidFill>
                <a:latin typeface="Microsoft JhengHei"/>
              </a:rPr>
              <a:t>7,243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96596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2"/>
                </a:solidFill>
                <a:latin typeface="Microsoft JhengHei"/>
              </a:rPr>
              <a:t>最高帖文讚好（Hana Tam）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97480"/>
            <a:ext cx="1115568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83464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微型：pinksheeb（約 4k 粉，拔罐艾灸）｜小型：amyng_amy（1.8 萬粉，美妝／生活）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中階：meikiw、cherrietam、bithialam、stephanie_ssw（5.5 萬粉，針灸體驗）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大型：eva_pinkland、hanatam（@hons_cmc，5k–7k 讚）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共通：到店真實體驗＋個人健康故事，非硬銷優惠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E8A47"/>
                </a:solidFill>
                <a:latin typeface="Microsoft Jheng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KOL 合作清單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頤安本草 · KOL 行銷分析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173736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37160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JhengHei"/>
              </a:rPr>
              <a:t>KOL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325880"/>
            <a:ext cx="150876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40864" y="1371600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JhengHei"/>
              </a:rPr>
              <a:t>帳號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325880"/>
            <a:ext cx="114300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5344" y="1371600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JhengHei"/>
              </a:rPr>
              <a:t>粉絲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325880"/>
            <a:ext cx="150876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4064" y="1371600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JhengHei"/>
              </a:rPr>
              <a:t>層級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325880"/>
            <a:ext cx="297180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8544" y="1371600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JhengHei"/>
              </a:rPr>
              <a:t>內容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1325880"/>
            <a:ext cx="201168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6064" y="1371600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JhengHei"/>
              </a:rPr>
              <a:t>讚好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655064"/>
            <a:ext cx="17373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" y="1728216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A463C"/>
                </a:solidFill>
                <a:latin typeface="Microsoft JhengHei"/>
              </a:rPr>
              <a:t>Eva Cheung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1655064"/>
            <a:ext cx="15087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40864" y="1728216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@eva_pinkland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1655064"/>
            <a:ext cx="114300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95344" y="1728216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26 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1655064"/>
            <a:ext cx="15087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84064" y="1728216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大型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1655064"/>
            <a:ext cx="297180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8544" y="1728216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腸胃+中藥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1655064"/>
            <a:ext cx="201168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6064" y="1728216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5,806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130552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" y="2203704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A463C"/>
                </a:solidFill>
                <a:latin typeface="Microsoft JhengHei"/>
              </a:rPr>
              <a:t>Hana Tam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2130552"/>
            <a:ext cx="1508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40864" y="2203704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@hanatam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2130552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95344" y="2203704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40 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2130552"/>
            <a:ext cx="1508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84064" y="2203704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大型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2130552"/>
            <a:ext cx="2971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38544" y="2203704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針灸助眠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0" y="2130552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56064" y="2203704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7,243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2606040"/>
            <a:ext cx="17373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7784" y="2679192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A463C"/>
                </a:solidFill>
                <a:latin typeface="Microsoft JhengHei"/>
              </a:rPr>
              <a:t>黃美棋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2606040"/>
            <a:ext cx="15087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40864" y="2679192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@meikiw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606040"/>
            <a:ext cx="114300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95344" y="2679192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11 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2606040"/>
            <a:ext cx="15087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84064" y="2679192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中階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2606040"/>
            <a:ext cx="297180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38544" y="2679192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腰痛針灸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01200" y="2606040"/>
            <a:ext cx="201168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56064" y="2679192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1,091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081528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7784" y="3154680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A463C"/>
                </a:solidFill>
                <a:latin typeface="Microsoft JhengHei"/>
              </a:rPr>
              <a:t>申倩瑋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0" y="3081528"/>
            <a:ext cx="1508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40864" y="3154680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@stephanie_ssw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0" y="3081528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95344" y="3154680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5.5 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0" y="3081528"/>
            <a:ext cx="1508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84064" y="3154680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中階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0" y="3081528"/>
            <a:ext cx="2971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38544" y="315468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針灸體驗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01200" y="3081528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56064" y="3154680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3,320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3557016"/>
            <a:ext cx="17373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7784" y="3630168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A463C"/>
                </a:solidFill>
                <a:latin typeface="Microsoft JhengHei"/>
              </a:rPr>
              <a:t>Cherrie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0" y="3557016"/>
            <a:ext cx="15087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340864" y="3630168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@cherrietam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40480" y="3557016"/>
            <a:ext cx="114300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95344" y="3630168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5.8 萬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3557016"/>
            <a:ext cx="15087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84064" y="3630168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中階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83680" y="3557016"/>
            <a:ext cx="297180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38544" y="3630168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養康腸胃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601200" y="3557016"/>
            <a:ext cx="201168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656064" y="3630168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678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4032504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7784" y="4105656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A463C"/>
                </a:solidFill>
                <a:latin typeface="Microsoft JhengHei"/>
              </a:rPr>
              <a:t>Bithia Lam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286000" y="4032504"/>
            <a:ext cx="1508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340864" y="4105656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@bithialam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40480" y="4032504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895344" y="4105656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4.3 萬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0" y="4032504"/>
            <a:ext cx="1508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84064" y="4105656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中階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583680" y="4032504"/>
            <a:ext cx="2971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638544" y="4105656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濕疹調理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601200" y="4032504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656064" y="4105656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366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2920" y="4507992"/>
            <a:ext cx="17373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57784" y="4581144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A463C"/>
                </a:solidFill>
                <a:latin typeface="Microsoft JhengHei"/>
              </a:rPr>
              <a:t>Amy Ng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286000" y="4507992"/>
            <a:ext cx="15087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340864" y="4581144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@amyng_amy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840480" y="4507992"/>
            <a:ext cx="114300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895344" y="4581144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1.8 萬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9200" y="4507992"/>
            <a:ext cx="15087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84064" y="4581144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小型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583680" y="4507992"/>
            <a:ext cx="297180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638544" y="4581144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OL 肩頸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601200" y="4507992"/>
            <a:ext cx="201168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656064" y="4581144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9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02920" y="4983480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57784" y="5056632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A463C"/>
                </a:solidFill>
                <a:latin typeface="Microsoft JhengHei"/>
              </a:rPr>
              <a:t>Sandra Ho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86000" y="4983480"/>
            <a:ext cx="1508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340864" y="5056632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@pinksheeb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840480" y="4983480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895344" y="5056632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4,237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029200" y="4983480"/>
            <a:ext cx="1508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084064" y="5056632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微型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583680" y="4983480"/>
            <a:ext cx="2971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638544" y="5056632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拔罐艾灸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601200" y="4983480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56064" y="5056632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E8A47"/>
                </a:solidFill>
                <a:latin typeface="Microsoft Jheng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2026 年同級別市場報價（參考）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7F2E7"/>
                </a:solidFill>
                <a:latin typeface="Microsoft JhengHei"/>
              </a:rPr>
              <a:t>單次合作 · 港元 HKD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頤安本草 · KOL 行銷分析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53312"/>
            <a:ext cx="1115568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188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463C"/>
                </a:solidFill>
                <a:latin typeface="Microsoft JhengHei"/>
              </a:rPr>
              <a:t>微型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463040"/>
            <a:ext cx="2011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&lt; 1 萬粉絲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463040"/>
            <a:ext cx="2286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A1A18"/>
                </a:solidFill>
                <a:latin typeface="Microsoft JhengHei"/>
              </a:rPr>
              <a:t>Feed 800 – 2,500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2560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A1A18"/>
                </a:solidFill>
                <a:latin typeface="Microsoft JhengHei"/>
              </a:rPr>
              <a:t>Reels 1,500 – 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463040"/>
            <a:ext cx="2377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23A2E"/>
                </a:solidFill>
                <a:latin typeface="Microsoft JhengHei"/>
              </a:rPr>
              <a:t>年4次 4,000 – 12,000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011680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21408"/>
            <a:ext cx="1188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463C"/>
                </a:solidFill>
                <a:latin typeface="Microsoft JhengHei"/>
              </a:rPr>
              <a:t>小型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121408"/>
            <a:ext cx="2011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1 – 5 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121408"/>
            <a:ext cx="2286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A1A18"/>
                </a:solidFill>
                <a:latin typeface="Microsoft JhengHei"/>
              </a:rPr>
              <a:t>Feed 2,500 – 8,000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21408"/>
            <a:ext cx="2560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A1A18"/>
                </a:solidFill>
                <a:latin typeface="Microsoft JhengHei"/>
              </a:rPr>
              <a:t>Reels 5,000 – 15,000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121408"/>
            <a:ext cx="2377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23A2E"/>
                </a:solidFill>
                <a:latin typeface="Microsoft JhengHei"/>
              </a:rPr>
              <a:t>年4次 12,000 – 36,000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670048"/>
            <a:ext cx="1115568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779776"/>
            <a:ext cx="1188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463C"/>
                </a:solidFill>
                <a:latin typeface="Microsoft JhengHei"/>
              </a:rPr>
              <a:t>中階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779776"/>
            <a:ext cx="2011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5 – 15 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2779776"/>
            <a:ext cx="2286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A1A18"/>
                </a:solidFill>
                <a:latin typeface="Microsoft JhengHei"/>
              </a:rPr>
              <a:t>Feed 8,000 – 25,000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79776"/>
            <a:ext cx="2560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A1A18"/>
                </a:solidFill>
                <a:latin typeface="Microsoft JhengHei"/>
              </a:rPr>
              <a:t>Reels 15,000 – 40,000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779776"/>
            <a:ext cx="2377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23A2E"/>
                </a:solidFill>
                <a:latin typeface="Microsoft JhengHei"/>
              </a:rPr>
              <a:t>年4次 36,000 – 100,000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328416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38144"/>
            <a:ext cx="1188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463C"/>
                </a:solidFill>
                <a:latin typeface="Microsoft JhengHei"/>
              </a:rPr>
              <a:t>大型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438144"/>
            <a:ext cx="2011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15 – 50 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3438144"/>
            <a:ext cx="2286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A1A18"/>
                </a:solidFill>
                <a:latin typeface="Microsoft JhengHei"/>
              </a:rPr>
              <a:t>Feed 25,000 – 80,000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438144"/>
            <a:ext cx="2560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A1A18"/>
                </a:solidFill>
                <a:latin typeface="Microsoft JhengHei"/>
              </a:rPr>
              <a:t>Reels 40,000 – 120,000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438144"/>
            <a:ext cx="2377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23A2E"/>
                </a:solidFill>
                <a:latin typeface="Microsoft JhengHei"/>
              </a:rPr>
              <a:t>年4次 100,000 – 300,000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986784"/>
            <a:ext cx="1115568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096512"/>
            <a:ext cx="1188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463C"/>
                </a:solidFill>
                <a:latin typeface="Microsoft JhengHei"/>
              </a:rPr>
              <a:t>頂級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4096512"/>
            <a:ext cx="2011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50 萬以上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4096512"/>
            <a:ext cx="2286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A1A18"/>
                </a:solidFill>
                <a:latin typeface="Microsoft JhengHei"/>
              </a:rPr>
              <a:t>Feed 80,000 – 300,000+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096512"/>
            <a:ext cx="2560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A1A18"/>
                </a:solidFill>
                <a:latin typeface="Microsoft JhengHei"/>
              </a:rPr>
              <a:t>Reels 120,000 – 500,000+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096512"/>
            <a:ext cx="2377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23A2E"/>
                </a:solidFill>
                <a:latin typeface="Microsoft JhengHei"/>
              </a:rPr>
              <a:t>年4次 300,000 – 1,000,000+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892040"/>
            <a:ext cx="11155680" cy="1234440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029200"/>
            <a:ext cx="10789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JhengHei"/>
              </a:rPr>
              <a:t>2015 年養康合作價約為現時 1/3–1/5。另計：Story、廣告授權、藝人加成、到店體驗成本。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E8A47"/>
                </a:solidFill>
                <a:latin typeface="Microsoft Jheng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頤安 KOL 預算方案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7F2E7"/>
                </a:solidFill>
                <a:latin typeface="Microsoft JhengHei"/>
              </a:rPr>
              <a:t>建議採方案 B · 不含月度 HKD 10,000 月費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頤安本草 · KOL 行銷分析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53312"/>
            <a:ext cx="54864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5486400" cy="384048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399032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A · 輕量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856232"/>
            <a:ext cx="52120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A1A18"/>
                </a:solidFill>
                <a:latin typeface="Microsoft JhengHei"/>
              </a:rPr>
              <a:t>4 次/年　小型 KOL × 4（單圖帖）</a:t>
            </a:r>
            <a:br/>
            <a:br/>
            <a:r>
              <a:t>約 HKD 24,000　（月均 ~2,000）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53312"/>
            <a:ext cx="54864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53312"/>
            <a:ext cx="5486400" cy="384048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399032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B · 標準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52120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A1A18"/>
                </a:solidFill>
                <a:latin typeface="Microsoft JhengHei"/>
              </a:rPr>
              <a:t>6 次/年　中階 × 2 + 小型 × 4</a:t>
            </a:r>
            <a:br/>
            <a:br/>
            <a:r>
              <a:t>約 HKD 64,000　（月均 ~5,300）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85032"/>
            <a:ext cx="54864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685032"/>
            <a:ext cx="5486400" cy="384048"/>
          </a:xfrm>
          <a:prstGeom prst="rect">
            <a:avLst/>
          </a:prstGeom>
          <a:solidFill>
            <a:srgbClr val="AE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3730752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C · 加強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187952"/>
            <a:ext cx="52120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A1A18"/>
                </a:solidFill>
                <a:latin typeface="Microsoft JhengHei"/>
              </a:rPr>
              <a:t>8 次/年　大型 × 1 + 中階 × 2 + 小型 × 3</a:t>
            </a:r>
            <a:br/>
            <a:br/>
            <a:r>
              <a:t>約 HKD 130,000　（月均 ~10,800）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685032"/>
            <a:ext cx="54864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685032"/>
            <a:ext cx="5486400" cy="384048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730752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D · 對標養康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187952"/>
            <a:ext cx="52120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A1A18"/>
                </a:solidFill>
                <a:latin typeface="Microsoft JhengHei"/>
              </a:rPr>
              <a:t>4–6 次/年　大型 × 2 + 中階 × 2（如 eva + hanatam 級）</a:t>
            </a:r>
            <a:br/>
            <a:br/>
            <a:r>
              <a:t>約 HKD 180,000+　（預算較高，按需選用）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989320"/>
            <a:ext cx="11155680" cy="5029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0533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7F2E7"/>
                </a:solidFill>
                <a:latin typeface="Microsoft JhengHei"/>
              </a:rPr>
              <a:t>方案 B 約 HKD 64,000/年 ≈ 月均 5,300　｜　配合 Meta 加推 KOL 帖文效果更佳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E8A47"/>
                </a:solidFill>
                <a:latin typeface="Microsoft JhengHei"/>
              </a:rPr>
              <a:t>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Microsoft JhengHei"/>
              </a:rPr>
              <a:t>養康以「中階 KOL 體驗文」為主力（含申倩瑋 5.5 萬粉），大型 KOL 作加強曝光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Microsoft JhengHei"/>
              </a:rPr>
              <a:t>2026 同級別中階 KOL 單帖約 HKD 8,000–25,000；年度 4–6 次約 HKD 24,000–64,000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Microsoft JhengHei"/>
              </a:rPr>
              <a:t>頤安建議：方案 B + 合規體驗文 + WhatsApp 6734 9532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Microsoft JhengHei"/>
              </a:rPr>
              <a:t>不照搬：誇大療效、免診金、大型 KOL 高預算無 ROI 追蹤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Microsoft JhengHei"/>
              </a:rPr>
              <a:t>詳見 Oakville-KOL-Marketing-Analysis.docx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