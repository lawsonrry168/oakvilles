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E8A47"/>
                </a:solidFill>
                <a:latin typeface="Microsoft JhengHei"/>
              </a:rPr>
              <a:t>OAKVILLE WELLNESS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頤安本草 · 官網重建整合方案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7F2E7"/>
                </a:solidFill>
                <a:latin typeface="Microsoft JhengHei"/>
              </a:rPr>
              <a:t>對標分析 · 三方比較 · 新站現況 · 廣告策略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0D0"/>
                </a:solidFill>
                <a:latin typeface="Microsoft JhengHei"/>
              </a:rPr>
              <a:t>2026 年 6 月 ｜ oakvilles.com ｜ 已部署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背景與一句話結論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8"/>
                </a:solidFill>
                <a:latin typeface="Microsoft JhengHei"/>
              </a:rPr>
              <a:t>舊站為單頁結構，無法承接「症狀搜尋」與「醫師名字搜尋」。新站借鑑養康的內容厚度與 WhatsApp 轉化，但保持中環高端、合規克制定位。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23317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20756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62072"/>
            <a:ext cx="2075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新站頁面（中+英）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148840"/>
            <a:ext cx="23317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214884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2258568"/>
            <a:ext cx="20756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862072"/>
            <a:ext cx="2075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症狀 SEO 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148840"/>
            <a:ext cx="23317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14884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2258568"/>
            <a:ext cx="20756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2862072"/>
            <a:ext cx="2075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dataLayer 事件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2148840"/>
            <a:ext cx="23317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214884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2258568"/>
            <a:ext cx="20756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2862072"/>
            <a:ext cx="2075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Vercel 已上線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94760"/>
            <a:ext cx="111556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1363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463C"/>
                </a:solidFill>
                <a:latin typeface="Microsoft JhengHei"/>
              </a:rPr>
              <a:t>簡報結構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519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三方對照（養康 / 舊站 / 新站）— 一表看清差距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對標借鑑與品牌區隔 — 學架構、不學促銷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新站轉化 + 量測 + Meta／Google 廣告落地路線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三方多維度對照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養康（標竿）｜舊站｜新站（2026.06 現況）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141732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344168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298448"/>
            <a:ext cx="306324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1344168"/>
            <a:ext cx="2953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養康 honscmc.com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298448"/>
            <a:ext cx="306324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1344168"/>
            <a:ext cx="2953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298448"/>
            <a:ext cx="361188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1344168"/>
            <a:ext cx="3502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新站（已上線）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645920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700784"/>
            <a:ext cx="12893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164592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1700784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尖沙咀 · 皮膚/美容 · 促銷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1700784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個人醫師名 · 訊息散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645920"/>
            <a:ext cx="3611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1700784"/>
            <a:ext cx="34838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頤安本草 · 中環高端 · 合規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212848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2267712"/>
            <a:ext cx="12893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頁面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2212848"/>
            <a:ext cx="306324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3392" y="2267712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WP 多頁 · 四層 nav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2212848"/>
            <a:ext cx="306324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2" y="2267712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實質 1 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212848"/>
            <a:ext cx="3611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2" y="2267712"/>
            <a:ext cx="34838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62 頁（含 /en/）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779776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2834640"/>
            <a:ext cx="12893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SEO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2779776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93392" y="2834640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每症狀一頁 + 地區詞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2779776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56632" y="2834640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無 sitemap/Schema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2779776"/>
            <a:ext cx="3611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2" y="2834640"/>
            <a:ext cx="34838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7 症狀頁 + central-hk + 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346704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3401568"/>
            <a:ext cx="12893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轉化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3346704"/>
            <a:ext cx="306324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93392" y="3401568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Joinchat + 首診優惠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3346704"/>
            <a:ext cx="306324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56632" y="3401568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僅 WA 浮窗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346704"/>
            <a:ext cx="3611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2" y="3401568"/>
            <a:ext cx="34838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2 步 funnel + 計算器 + sticky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913632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3968496"/>
            <a:ext cx="12893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信任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0240" y="3913632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93392" y="3968496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13年/8000診量/FAQ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0" y="3913632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56632" y="3968496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缺評價/環境/FAQ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3913632"/>
            <a:ext cx="3611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19872" y="3968496"/>
            <a:ext cx="34838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Google 5.0 + gallery + 明碼價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80560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4535424"/>
            <a:ext cx="12893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量度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20240" y="4480560"/>
            <a:ext cx="306324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93392" y="4535424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3480" y="4480560"/>
            <a:ext cx="306324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56632" y="4535424"/>
            <a:ext cx="293522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無 GA4/CTA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4480560"/>
            <a:ext cx="3611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19872" y="4535424"/>
            <a:ext cx="34838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6 事件就緒 · GA4 待填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對標：養康獲客策略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官網承接 + 社交種草 + 優惠降門檻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5394960" cy="384048"/>
          </a:xfrm>
          <a:prstGeom prst="rect">
            <a:avLst/>
          </a:prstGeom>
          <a:solidFill>
            <a:srgbClr val="6B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53312"/>
            <a:ext cx="5175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網站特徵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5394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792224"/>
            <a:ext cx="51755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WordPress 多頁 · 四層下拉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綠色臨床 + 診所實景 Hero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首屏：地區 + 專科 + WA 24h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FAQ 10+ · Blog「中醫冷知識」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Joinchat · IG 用家留言嵌入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98448"/>
            <a:ext cx="5394960" cy="38404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353312"/>
            <a:ext cx="5175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獲客手段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82496"/>
            <a:ext cx="5394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792224"/>
            <a:ext cx="51755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SEO 長尾：症狀 + 地區著陸頁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WhatsApp 優先 · 全站立即預約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首診優惠（皮膚免診金）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IG KOL 素人化體驗分享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PIXNET 體驗文 · 付費廣告著陸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7F2E7"/>
                </a:solidFill>
                <a:latin typeface="Microsoft JhengHei"/>
              </a:rPr>
              <a:t>頤安借鑑其「內容厚度 + WA 轉化」，但不照搬促銷語、免診金、論壇軟文。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借鑑 vs 不照搬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539496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53312"/>
            <a:ext cx="5175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✓  借鑑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82496"/>
            <a:ext cx="5394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792224"/>
            <a:ext cx="51755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以「症狀」作 SEO 入口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FAQ 結構化（地點、資歷、收費）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WhatsApp 全站一致預約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Blog 持續內容 + 內部連結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首屏展示地點、時間、專科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98448"/>
            <a:ext cx="5394960" cy="38404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353312"/>
            <a:ext cx="5175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✗  不照搬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82496"/>
            <a:ext cx="5394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92224"/>
            <a:ext cx="51755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美容塑形促銷（豐胸、減肥）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首診免診金（高端定位不符）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efficacy 進取表述 · 論壇軟文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資訊過密、綠色促銷臨床感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與「循本溯源」定位衝突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新站資訊架構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Eleventy 靜態站 · dongfang.css · 雙語 /en/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5331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9903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首頁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288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Hero · 四專科 · gallery · 評價 · 計算器 · 預約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5331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5331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39903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專科/療法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8288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痛症·皮膚·婦科·內科 + 針灸·中藥·艾灸·拔罐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5331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5331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39903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症狀 SEO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8288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濕疹·暗瘡·失眠·備孕·頸痛·坐骨等 7 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0215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02152"/>
            <a:ext cx="3520440" cy="36576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5478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內容/信任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39776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Blog 4 篇 · FAQ · 醫師 · 流程收費 · Google 評價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50215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502152"/>
            <a:ext cx="3520440" cy="36576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5478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本地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39776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central-hk · GEO meta · llms.txt · hreflang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50215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502152"/>
            <a:ext cx="3520440" cy="36576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35478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部署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39776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GitHub → Vercel 自動 build · oakvilles.com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品牌定位差異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447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A5A52"/>
                </a:solidFill>
                <a:latin typeface="Microsoft JhengHei"/>
              </a:rPr>
              <a:t>養康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4475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頤安新站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10512"/>
            <a:ext cx="11155680" cy="80467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7510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視覺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7510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綠色臨床、促銷感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97510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paper/pine/cinnabar 禪意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15184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7977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受眾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79776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尖沙咀、美容減肥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7977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中環上班族、高端全科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19856"/>
            <a:ext cx="11155680" cy="80467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8444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語氣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844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促銷、療效導向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844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循本溯源、合規克制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24528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品牌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38912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養康中醫館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3891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頤安本草 · 伍厚臻中醫師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074920"/>
            <a:ext cx="11155680" cy="10515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303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2E7"/>
                </a:solidFill>
                <a:latin typeface="Microsoft JhengHei"/>
              </a:rPr>
              <a:t>養康：流量 + 轉化優先 ｜ 頤安：信任 + 合規 + 高端體驗優先。架構可借鑑，調性刻意區隔。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轉化動線與量測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WhatsApp 6734 9532 為統一 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539496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463C"/>
                </a:solidFill>
                <a:latin typeface="Microsoft JhengHei"/>
              </a:rPr>
              <a:t>轉化漏斗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多入口 CTA（hero / nav / sticky / 浮動 WA）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每個按鈕帶 data-cta-id 可追蹤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2 步預約：科別+日期 → 聯絡資料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自動組 WhatsApp 訊息送出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診金計算器 →「以此方案預約」預填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手機 sticky bar + WA 浮動避障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98448"/>
            <a:ext cx="539496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23A2E"/>
                </a:solidFill>
                <a:latin typeface="Microsoft JhengHei"/>
              </a:rPr>
              <a:t>dataLayer 事件（GA4 就緒）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whatsapp_click — 主要轉化 KPI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booking_submit — 高意向次要轉化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cta_click — 分辨入口（hero/sticky/wa-float）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funnel_step — 預約第 1/2 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calculator_update / calculator_to_booking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待辦：site-config.js 填入 GA4 ID + 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Meta / Google 廣告策略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著陸頁對應 + 受眾 + 待接追蹤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155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4475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A463C"/>
                </a:solidFill>
                <a:latin typeface="Microsoft JhengHei"/>
              </a:rPr>
              <a:t>Meta 廣告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44752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症狀頁著陸 · Pixel 追蹤 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44752"/>
            <a:ext cx="4206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濕疹/暗瘡/備孕 · /en/ 外籍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75104"/>
            <a:ext cx="11155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66544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A463C"/>
                </a:solidFill>
                <a:latin typeface="Microsoft JhengHei"/>
              </a:rPr>
              <a:t>Google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066544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品牌+中環+症狀長尾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66544"/>
            <a:ext cx="4206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GA4 轉化匯入 · Maximize Conversions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96896"/>
            <a:ext cx="11155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88336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A463C"/>
                </a:solidFill>
                <a:latin typeface="Microsoft JhengHei"/>
              </a:rPr>
              <a:t>Google 本地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688336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GBP 優化 · 評價邀請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688336"/>
            <a:ext cx="4206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與 Search 互補本地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18688"/>
            <a:ext cx="11155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1012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A463C"/>
                </a:solidFill>
                <a:latin typeface="Microsoft JhengHei"/>
              </a:rPr>
              <a:t>IG 有機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31012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@oakville.wellness 互導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310128"/>
            <a:ext cx="4206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診所日常 · 非硬銷（可選 KOL）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40480"/>
            <a:ext cx="11155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3192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A463C"/>
                </a:solidFill>
                <a:latin typeface="Microsoft JhengHei"/>
              </a:rPr>
              <a:t>內容 SEO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931920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FAQ + 症狀頁擴充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931920"/>
            <a:ext cx="4206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Blog 每月 1–2 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62272"/>
            <a:ext cx="11155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5371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A463C"/>
                </a:solidFill>
                <a:latin typeface="Microsoft JhengHei"/>
              </a:rPr>
              <a:t>不建議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553712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免診金 · 論壇軟文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553712"/>
            <a:ext cx="4206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豐胸減肥主 SEO 入口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257800"/>
            <a:ext cx="11155680" cy="96012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3949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7F2E7"/>
                </a:solidFill>
                <a:latin typeface="Microsoft JhengHei"/>
              </a:rPr>
              <a:t>廣告開跑前 P0：GA4 ID · Search Console · GBP · GTM（GA4 + Meta Pixel）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交付路線圖（更新現況）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60604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2606040" cy="4572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299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第一階段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06040"/>
            <a:ext cx="2377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62 頁雙語 · SEO · funnel · GA4 就緒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34340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✓ 已完成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54680" y="3200400"/>
            <a:ext cx="292608" cy="201168"/>
          </a:xfrm>
          <a:prstGeom prst="rightArrow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965960"/>
            <a:ext cx="260604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965960"/>
            <a:ext cx="2606040" cy="457200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299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第二階段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06040"/>
            <a:ext cx="2377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50 張品牌視覺 · 全站接入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34340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規劃中 · 部分接入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35040" y="3200400"/>
            <a:ext cx="292608" cy="201168"/>
          </a:xfrm>
          <a:prstGeom prst="rightArrow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965960"/>
            <a:ext cx="260604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965960"/>
            <a:ext cx="2606040" cy="4572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0299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第三階段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606040"/>
            <a:ext cx="2377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Production oakvilles.com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34340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✓ 已部署 Vercel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3200400"/>
            <a:ext cx="292608" cy="201168"/>
          </a:xfrm>
          <a:prstGeom prst="rightArrow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965960"/>
            <a:ext cx="260604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65960"/>
            <a:ext cx="2606040" cy="4572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20299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持續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606040"/>
            <a:ext cx="2377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月度行銷 HKD 10,000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434340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可選合約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建議下一步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3520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52044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P0 · 本週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74519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填入 SITE_GA4_ID 並部署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Search Console 提交 sitemap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Google Business Profile 優化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520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520440" cy="384048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38988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P1 · 廣告前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74519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GTM：GA4 + Meta Pixel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GA4 轉化 → Google Ads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Meta 自訂轉換 whatsapp_click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3520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3520440" cy="38404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38988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P2 · 持續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874519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症狀 campaign + 著陸 A/B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Blog 每月 1–2 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品牌視覺 50 張批次接入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E8A47"/>
                </a:solidFill>
                <a:latin typeface="Microsoft JhengHei"/>
              </a:rPr>
              <a:t>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養康的優勢在於「內容厚度 + WhatsApp 轉化 + 社交種草」。舊站無法承接搜尋流量。新站已在架構、SEO、轉化量度及品牌視覺上系統補足，並保持中環高端、合規、專業定位。</a:t>
            </a:r>
            <a:br/>
            <a:br/>
            <a:r>
              <a:t>共同 KPI：whatsapp_click ｜ oakvilles.com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434840"/>
            <a:ext cx="10515600" cy="160020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E8A47"/>
                </a:solidFill>
                <a:latin typeface="Microsoft JhengHei"/>
              </a:rPr>
              <a:t>立即行動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7F2E7"/>
                </a:solidFill>
                <a:latin typeface="Microsoft JhengHei"/>
              </a:rPr>
              <a:t>啟用 GA4 + 廣告追蹤（GTM / Pixel）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7F2E7"/>
                </a:solidFill>
                <a:latin typeface="Microsoft JhengHei"/>
              </a:rPr>
              <a:t>GBP + 本地 SEO 持續優化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7F2E7"/>
                </a:solidFill>
                <a:latin typeface="Microsoft JhengHei"/>
              </a:rPr>
              <a:t>症狀內容 + Blog 每月更新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月度網絡行銷方案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IG/FB 各 4 post · 官網 2 文 · Meta + Google 廣告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網站重建整合方案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61872"/>
            <a:ext cx="26060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61872"/>
            <a:ext cx="54864" cy="1143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371600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1975104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IG post／月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61872"/>
            <a:ext cx="26060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261872"/>
            <a:ext cx="54864" cy="1143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371600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975104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FB post／月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261872"/>
            <a:ext cx="26060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261872"/>
            <a:ext cx="54864" cy="1143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371600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1975104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Blog 文章／月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261872"/>
            <a:ext cx="26060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261872"/>
            <a:ext cx="54864" cy="1143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1371600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6734 9532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1975104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統一轉化 KPI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606040"/>
            <a:ext cx="539496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724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每月社交四大支柱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0632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W1 症狀科普 → /conditions/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W2 診所信任 → /about/ · Google 5.0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W3 季節養生 → 當月 Blog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W4 預約 CTA → WhatsApp 2 步 funnel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606040"/>
            <a:ext cx="539496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724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23A2E"/>
                </a:solidFill>
                <a:latin typeface="Microsoft JhengHei"/>
              </a:rPr>
              <a:t>Meta + Google 廣告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632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Meta：症狀頁著陸 · Pixel · 再營銷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Google：品牌+中環+症狀 Search · PMax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預算參考：Meta 5–8K + Google 5–8K HKD/月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P0：GA4 · GTM · Meta Pixel · GBP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32764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7F2E7"/>
                </a:solidFill>
                <a:latin typeface="Microsoft JhengHei"/>
              </a:rPr>
              <a:t>不合規手段不採用：免診金 · 論壇軟文 · 豐胸減肥主 SEO ｜ 詳見 Oakville-Digital-Marketing-Plan.docx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